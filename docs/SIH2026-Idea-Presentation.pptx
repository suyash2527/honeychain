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1" sz="1700">
                <a:solidFill>
                  <a:srgbClr val="1F497D"/>
                </a:solidFill>
                <a:latin typeface="Arial"/>
              </a:rPr>
              <a:t>SIH26021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b="1" sz="1400">
                <a:solidFill>
                  <a:srgbClr val="1F497D"/>
                </a:solidFill>
                <a:latin typeface="Arial"/>
              </a:rPr>
              <a:t>Honey Chain: A block chain-based system for honey traceability and smart beekeeping management.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1" sz="1700">
                <a:solidFill>
                  <a:srgbClr val="1F497D"/>
                </a:solidFill>
                <a:latin typeface="Arial"/>
              </a:rPr>
              <a:t>Agriculture, FoodTech &amp; Rural Development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1" sz="170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1" sz="1700">
                <a:solidFill>
                  <a:srgbClr val="1F497D"/>
                </a:solidFill>
                <a:latin typeface="Arial"/>
              </a:rPr>
              <a:t>133847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b="1" sz="1700">
                <a:solidFill>
                  <a:srgbClr val="1F497D"/>
                </a:solidFill>
                <a:latin typeface="Arial"/>
              </a:rPr>
              <a:t>CodeVerse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9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HONEY CHAIN: Blockchain Honey Traceability + AI-IoT Smart Beekeeping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143000"/>
            <a:ext cx="6949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20040" y="1490472"/>
            <a:ext cx="694944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u="none" i="0">
                <a:solidFill>
                  <a:srgbClr val="1F497D"/>
                </a:solidFill>
                <a:latin typeface="Arial"/>
              </a:rPr>
              <a:t>Honey Chain </a:t>
            </a:r>
            <a:r>
              <a:rPr sz="1050" b="0" u="none" i="0">
                <a:solidFill>
                  <a:srgbClr val="000000"/>
                </a:solidFill>
                <a:latin typeface="Arial"/>
              </a:rPr>
              <a:t>gives every hive, harvest batch and jar a tamper-proof digital identity on a permissioned blockchain. Consumers verify authenticity by scanning a QR code; IoT + AI keep colonies healthy and productive.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205740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Detailed explanation of the proposed solution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0040" y="2331720"/>
            <a:ext cx="6949440" cy="2514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Register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each KVIC bee box gets a Hive ID (owner, village, GPS, cluster, flora) written to the ledger.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Sense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ESP32 hive node streams weight, brood temperature, humidity, colony sound, CO₂ and entrance activity; edge AI diagnoses varroa, foulbrood, queenless, pre-swarm and starvation and forecasts 30-day yield.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Anchor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14-day telemetry is hashed into a Merkle root and sealed on-chain; raw data stays local, so a 2G link is enough.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Harvest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beekeeper picks hives, enters kg + flora → batch ID + printable QR; yield-per-hive plausibility is checked automatically.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Certify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NABL lab records moisture, HMF, sucrose, reducing sugars, ash, C4 sugar, NMR profile and rice-syrup marker (SMR); pass/fail is computed from limits and cannot be edited.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Move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processor / distributor / retailer handovers and retail packing are logged; every write prints a signed receipt.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Verify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consumer scans the QR → trust score 0-100, origin, lab table, journey and validator signatures; forged codes return "no such batch".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20040" y="484632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Innovation and uniqueness of the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20040" y="5120640"/>
            <a:ext cx="694944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Lab-agnostic trust layer: anchors NMR, SMR, C4 and HMF results, so syrups engineered to pass basic tests are still rejected (CSE 2020)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Yield plausibility: claimed kg vs hive-weight telemetry exposes blending ("95 kg from 1 hive" is flagged)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Telemetry anchored by Merkle root: auditable claims with minimal bandwidth and cost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Permissioned PoA (KVIC / FSSAI / lab validators): no mining, no gas, accountable writers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Explainable AI with advice in English + Hindi; offline-first installable PWA built for villages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452360" y="11430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How it addresses the problem</a:t>
            </a:r>
          </a:p>
        </p:txBody>
      </p:sp>
      <p:graphicFrame>
        <p:nvGraphicFramePr>
          <p:cNvPr id="15369" name="Table 15368"/>
          <p:cNvGraphicFramePr>
            <a:graphicFrameLocks noGrp="1"/>
          </p:cNvGraphicFramePr>
          <p:nvPr/>
        </p:nvGraphicFramePr>
        <p:xfrm>
          <a:off x="7452360" y="1463040"/>
          <a:ext cx="4389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1546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Problem (PS SIH26021)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Honey Chain answer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Counterfeit honey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Lab results incl. NMR/SMR sealed per batch; failures are permanent; QR verifies each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Low consumer trust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trust score, origin and journey read from the ledger, not from the seller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Weak market linkage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Verified batches + custody trail support premium pricing and direct/retail buyers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No traceability or hive-management support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Hive → harvest → jar trail; IoT-AI alerts, advice and yield forecast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5370" name="TextBox 15369"/>
          <p:cNvSpPr txBox="1"/>
          <p:nvPr/>
        </p:nvSpPr>
        <p:spPr>
          <a:xfrm>
            <a:off x="7452360" y="370332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Expected solution coverage (per problem statement)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7452360" y="3977639"/>
            <a:ext cx="4389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Blockchain prototype + QR consumer authentication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and live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IoT hive monitoring + AI analytics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(simulated sensors, explainable model)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Scalable KVIC deployment framework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phased plan, costs, risks (slide 4)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452360" y="50292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Trust score shown to the buyer (0-100)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452360" y="5303520"/>
            <a:ext cx="4389120" cy="100584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+25 hives registered · +15 harvest logged · +40 lab PASS · +10 telemetry anchored · +10 custody / retail trail · −20 implausible yield per hive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u="none" i="0">
                <a:solidFill>
                  <a:srgbClr val="595959"/>
                </a:solidFill>
                <a:latin typeface="Arial"/>
              </a:rPr>
              <a:t>Lab FAIL or score &lt; 50 → REJECT.  Unknown / forged QR → "no such batch".  Ledger integrity is re-checked on every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498079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58951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977639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Technologies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React 18, Vite, JavaScript; installable offline-first PWA (service worker); html5-qrcode; EN / हिन्दी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Consumer, beekeeper, lab, supply-chain and officer portals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Ledger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SHA-256 hash-chain (Web Crypto); Proof-of-Authority round-robin validators; Merkle trees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Tamper-evidence; integrity check on every load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Smart contract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Solidity 0.8 (roles, batch, certify, custody) → Hyperledger Besu / Fabric-class network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Production ledger; a lab FAIL is final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IoT hardware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ESP32, HX711 + load cell, DS18B20, DHT22, MEMS mic (I²S), CO₂ sensor, LoRa, solar + Li-ion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15-min readings; 1 gateway per 20-40 hives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AI / analytics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Feature model: brood-temp variance, sound shift, weight slope, activity drop, CO₂ → softmax; CNN (TFLite Micro)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5 conditions + healthy; 30-day yield forecast (80% range)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On-chain: hashes only. Off-chain: time-series store; IPFS for lab PDFs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Privacy, low cost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DevOps / security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GitHub Actions CI; Pages / Vercel / Docker + nginx; HTTPS; role-based keys (Ed25519 planned)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Repeatable, secure deployment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Rectangle 17411"/>
          <p:cNvSpPr/>
          <p:nvPr/>
        </p:nvSpPr>
        <p:spPr>
          <a:xfrm>
            <a:off x="8092440" y="1170432"/>
            <a:ext cx="3749039" cy="274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AI (beyond the blockchain)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092440" y="1444752"/>
            <a:ext cx="3749039" cy="12984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Hive-health model: sensor features → varroa, foulbrood, queenless, pre-swarm, starvation (24/24 on simulated tests)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30-day yield forecast (80% range) + fraud flag when claimed kg per hive exceeds what hive data supports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CNN on hive audio via TFLite Micro, trained on open datasets (refs 8, 9); advice shown with confidence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Comb-photo disease check on the phone; Hindi voice entry and advice for low-literacy users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92440" y="2770632"/>
            <a:ext cx="3749039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Cloud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92440" y="3044952"/>
            <a:ext cx="3749039" cy="1042415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[Today]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PWA served from a CDN (GitHub Pages / Vercel); CI/CD with GitHub Actions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LoRaWAN → MQTT broker → time-series DB; Merkle root anchored on-chain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Validator nodes + indexer as containers on MeitY-empanelled / GI Cloud; KMS/HSM keys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Cloud GPU training, OTA model updates, drift monitoring; object storage + IPFS; retailer API; SMS / WhatsApp alerts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1148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7" name="Pentagon 17416"/>
          <p:cNvSpPr/>
          <p:nvPr/>
        </p:nvSpPr>
        <p:spPr>
          <a:xfrm>
            <a:off x="32004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1 Register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Hive ID: owner, GPS, cluster,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Block HIVE_REGISTERED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224028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2 Sense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24028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Node reads sensors every 15 min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Edge AI diagnosis + advice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Merkle root → SENSOR_ATTESTATION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416052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3 Harvest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16052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Pick hives, kg,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Batch ID HC-YYYY-NNNN + QR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Yield/hive check (&gt; 45 kg flagged)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608076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4 Certify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08076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NABL lab enters 8 tests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Auto PASS / FAIL vs limits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LAB_CERTIFIED – immutable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800100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5 Move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00100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CUSTODY_TRANSFER, RETAIL_PACKED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Who → whom, bottles, outlet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Signed receipt per write</a:t>
            </a:r>
          </a:p>
        </p:txBody>
      </p:sp>
      <p:sp>
        <p:nvSpPr>
          <p:cNvPr id="17427" name="Pentagon 17426"/>
          <p:cNvSpPr/>
          <p:nvPr/>
        </p:nvSpPr>
        <p:spPr>
          <a:xfrm>
            <a:off x="9921240" y="4443984"/>
            <a:ext cx="1828800" cy="384048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6 Verify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99212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 QR or enter batch ID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Hash + signature re-check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Trust score, journey, verdict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Design rule: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only hashes and attestations go on-chain; raw sensor data stays local and is proven later via the Merkle root.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AI: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softmax over 6 states, 24 / 24 injected conditions identified in tests.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Data: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synthetic records modelled on real districts, flora and public parameters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70432"/>
            <a:ext cx="3749039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Technical: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working prototype live (ledger, QR verify, lab portal with NMR/SMR, hive AI, receipts, PWA); mature open-source stack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ESP32 node ≈ ₹1.5-2.5k per hive*; one LoRa gateway serves 20-40 hives within ~5 km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Economic: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near-zero ledger cost (PoA, no gas); QR label ≈ ₹0.1-0.3 per jar*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Operational: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fits NBHM / KVIC clusters, NABL labs and FSSAI oversight; no new institution needed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Regulatory: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minimal personal data (name, village); limits FSSAI/BIS-style, final limits set by the notified lab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Scalable: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validator nodes per KVIC region; hashes on-chain, raw data off-chain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97096" y="1170432"/>
            <a:ext cx="3749039" cy="36576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97096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Garbage-in: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 dishonest lab or beekeeper can enter false data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Adulteration that beats basic tests: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engineered syrups pass C4/HMF (CSE 2020)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Connectivity and literacy: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patchy 2G/4G, low digital skills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QR 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copying a genuine label onto fake jars, refilling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Field 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sensor drift, theft, power, weather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Adoption and 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cluster buy-in, cost sharing, who runs validators and keys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74152" y="1170432"/>
            <a:ext cx="3749039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74152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Trust in inputs: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accredited-lab keys, random re-tests, IoT weight cross-check vs claimed yield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Lab-agnostic: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anchor NMR + SMR alongside C4/HMF; new tests plug in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Village-ready: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offline-first PWA, EN/HI, QR-first flows, assisted entry via KVIC field officers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Anti-cloning: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per-jar serials + single-use claim codes, tamper seals (roadmap)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calibration, solar, IP-rated enclosure, sensor-anomaly flags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multi-stakeholder validators (KVIC, FSSAI, labs); hardware key storage; pilot via SHG trainers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Unit economics – planning estimates* (to be validated in the pilot)</a:t>
            </a:r>
          </a:p>
        </p:txBody>
      </p:sp>
      <p:graphicFrame>
        <p:nvGraphicFramePr>
          <p:cNvPr id="17417" name="Table 17416"/>
          <p:cNvGraphicFramePr>
            <a:graphicFrameLocks noGrp="1"/>
          </p:cNvGraphicFramePr>
          <p:nvPr/>
        </p:nvGraphicFramePr>
        <p:xfrm>
          <a:off x="320040" y="4617720"/>
          <a:ext cx="5669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7373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Hive node (ESP32 + sensors)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₹1.5-2.5k / hive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solar + LoRa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LoRa gateway (per cluster)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₹15-25k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20-40 hives each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QR label per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₹0.1-0.3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printed by beekeeper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Pilot: 100 hives, 3-5 gateways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≈ ₹2-3.8 lakh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hardware only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7418" name="TextBox 17417"/>
          <p:cNvSpPr txBox="1"/>
          <p:nvPr/>
        </p:nvSpPr>
        <p:spPr>
          <a:xfrm>
            <a:off x="617220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Phased rollout and validation plan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6172200" y="4617720"/>
            <a:ext cx="1371600" cy="365760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Pilot · 0-3 mo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72200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2 clusters · 50 beekeepers · 100 hives · 1 lab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7598664" y="4617720"/>
            <a:ext cx="1371600" cy="365760"/>
          </a:xfrm>
          <a:prstGeom prst="homePlate">
            <a:avLst/>
          </a:prstGeom>
          <a:solidFill>
            <a:srgbClr val="2F6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State · 4-9 mo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598664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10 clusters · 3 states · QR at Khadi outlets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9025128" y="4617720"/>
            <a:ext cx="1371600" cy="365760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Regional · 10-18 mo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025128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all Honey Mission states · FSSAI dashboard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10451592" y="4617720"/>
            <a:ext cx="1371600" cy="365760"/>
          </a:xfrm>
          <a:prstGeom prst="homePlate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000000"/>
                </a:solidFill>
                <a:latin typeface="Arial"/>
              </a:rPr>
              <a:t>National · Yr 2+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0451592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open API · export certificates · trained CNN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172200" y="5596128"/>
            <a:ext cx="5669280" cy="73152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Validation first: 10-minute interviews with 5 beekeepers, 2 NABL labs, 1 KVIC field officer (script prepared)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Pilot KPIs: % batches with QR + lab certificate, scans/month, price realisation, colony-loss rate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595959"/>
                </a:solidFill>
                <a:latin typeface="Arial"/>
              </a:rPr>
              <a:t>*Planning estimates, not quotes.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Audience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With Honey Chain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Rural beekeepers (KVIC Honey Mission)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prove purity; sell to middlemen at commodity prices; late disease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Verifiable quality → direct buyers and premium price; early alerts and yield forecast reduce colony loss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Consumers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tell real honey from syrup blends; labels are easy to copy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in seconds: origin, lab report, journey, trust score; fake batches flagged before purchase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KVIC / FSSAI / regulators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No live view of production or adulteration; manual audits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Cluster dashboards, tamper-evident audit trail, adulteration flags, hotspot targeting for extension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Processors, retailers, e-commerce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Brand and recall risk from unverifiable supply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Trusted supply chain with custody trail; verified, premium-ready listings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Labs and exporters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Reports on paper, easy to dispute or re-use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Signed, immutable certificates (NMR/SMR/C4/HMF) reusable as export evidence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20040" y="4315968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20040" y="4645152"/>
            <a:ext cx="1874519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Trust in rural produce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Livelihood security incl. SHGs / women beekeepers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Bilingual, low-literacy design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67712" y="4645152"/>
            <a:ext cx="1874519" cy="292608"/>
          </a:xfrm>
          <a:prstGeom prst="rect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67712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Higher realisation per kg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Less fraud loss for buyers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Export-ready traceability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Lower colony-loss cost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15383" y="4645152"/>
            <a:ext cx="1874519" cy="29260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15383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Healthier colonies → pollination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Targeted treatment, less chemical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Low-energy ledger (no mining)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Paperless certificates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163055" y="4645152"/>
            <a:ext cx="1874519" cy="29260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63055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Tamper-evident audit trail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Data-driven KVIC planning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Aligned to SDG 1, 2, 8, 12, 15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229600" y="114300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WHY NOW – public evidence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8229600" y="1463040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8366760" y="1435608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17 of 22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honey samples tested were adulterated with sugar syrup (77%)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CSE investigation, Dec 2020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8229600" y="2395728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8366760" y="2368296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46%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of imported honey in the EU was suspected of adulteration in 2022 (EU coordinated action)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via Frontiers Sust. Food Syst., 2025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8229600" y="3328416"/>
            <a:ext cx="64008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8366760" y="3300984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2E8B57"/>
                </a:solidFill>
                <a:latin typeface="Arial"/>
              </a:rPr>
              <a:t>1.4 lakh MT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natural honey produced in India in 2024; ~1.07 lakh MT exported in FY 2023-24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 - National Beekeeping &amp; Honey Mission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8229600" y="4261104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8366760" y="4233672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0070C0"/>
                </a:solidFill>
                <a:latin typeface="Arial"/>
              </a:rPr>
              <a:t>₹500 crore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NBHM outlay, FY 2020-21 to 2025-26: production is growing, trust must keep 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29600" y="523036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Pilot KPIs (baseline measured at pilot start)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229600" y="5486400"/>
            <a:ext cx="3611880" cy="8412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100% of pilot batches with QR + lab certificate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Scans / month; adulterated batches flagged per 1,000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Price realisation vs unlabelled honey; colony-loss rate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63040"/>
            <a:ext cx="576072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Market, regulatory and standards evidence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CSE – "Laboratory results of honey testing" (Dec 2020): NMR tests on branded honey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cdn.downtoearth.org.in/report_laboratory_results_of_honey_testing_20201201.pdf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FSSAI press release reviewing the CSE honey-sample issue (3 Dec 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fssai.gov.in/upload/press_release/2020/12/5fc8eb6d70965Press_Release_Honey_Sample_03_12_2020.pdf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PIB – National Beekeeping &amp; Honey Mission: outlay, production, exports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pib.gov.in/PressReleasePage.aspx?PRID=2185400   |   National Bee Board: nbb.gov.in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The Tribune – "Honeytrap": syrups designed to bypass purity tests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tribuneindia.com/news/nation/honeytrap-cse-investigations-claim-nefarious-adulteration-business-of-honey-designed-to-bypass-purity-tests-178930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Business Standard – FSSAI on the SMR (rice-syrup marker) test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business-standard.com/article/companies/fssai-questions-cse-for-not-conducting-smr-test-on-honey-brands-120120301199_1.html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Codex Alimentarius – Standard for Honey, CXS 12-1981 (rev. 2001; amended 2019, 2022)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fao.org/input/download/standards/310/cxs_012e.pdf   |   Indian standard: BIS IS 4941 (honey)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63640" y="1463040"/>
            <a:ext cx="557784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Technology and research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Ramsey et al. – "The prediction of swarming in honeybee colonies using vibrational spectra", Sci. Rep. 10, 9798 (2020)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nature.com/articles/s41598-020-66115-5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8.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Kulyukin – "Audio, image, video, and weather datasets for continuous electronic beehive monitoring", Applied Sciences 11(10), 4632 (2021)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Open datasets for training the production CNN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9.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Machine Learning and Computer Vision Techniques in Continuous Beehive Monitoring Applications: A survey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arxiv.org/pdf/2208.00085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10.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"Fujairah Honey Chain (FHC): A Blockchain Framework for Monitoring Honey Production", Information 16(8), 626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mdpi.com/2078-2489/16/8/626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"Analysing blockchain adoption in beekeeping: application of theoretical models", Frontiers in Sustainable Food Systems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frontiersin.org/journals/sustainable-food-systems/articles/10.3389/fsufs.2025.1566341/full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404164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Data used in the prototype (transparency)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279392"/>
            <a:ext cx="11521440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E8B57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Real public data: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CSE 2020 test findings, PIB / NBHM production and outlay figures, FSSAI / BIS / Codex honey parameters (refs 1-6) - used for the problem evidence, lab limits and impact statistics.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E98B1D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Prototype dataset: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15 hives, 10 batches and 51 ledger blocks across 8 real districts in 6 states (Bharatpur, Muzaffarpur, Ludhiana, South 24 Parganas, Saharanpur, Nashik, Nagpur, Sawai Madhopur) using real flowering regions. Beekeeper names, hive IDs, lab reports and sensor streams are synthetic (no real individuals); real pilot data replaces them in Phase 0.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AI data path: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prototype model runs on simulated telemetry; production CNN to be trained on open beehive datasets (refs 8, 9) plus KVIC apiary recordings.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5120640"/>
            <a:ext cx="6766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Research takeaways applied in the design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5376672"/>
            <a:ext cx="6858000" cy="93268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Engineered syrups can pass C4/HMF but fail NMR → ledger is lab-agnostic and anchors NMR + SMR results (refs 1, 4, 5)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Hive vibration/acoustics can forewarn swarming (ref 7) → colony-sound feature in the model; CNN trained on open datasets (refs 8, 9) is the production path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Blockchain honey frameworks exist (refs 10, 11); Honey Chain focuses on NMR/SMR-aware labs, Merkle-anchored telemetry and an offline bilingual PWA for Indian clusters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Prototype lab limits are indicative (FSSAI / BIS / Codex style); final limits come from the notified lab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7360920" y="5138928"/>
            <a:ext cx="4480560" cy="1188720"/>
          </a:xfrm>
          <a:prstGeom prst="rect">
            <a:avLst/>
          </a:prstGeom>
          <a:noFill/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406640" y="5157216"/>
            <a:ext cx="4389120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TRY THE PROTOTYPE</a:t>
            </a:r>
          </a:p>
        </p:txBody>
      </p:sp>
      <p:pic>
        <p:nvPicPr>
          <p:cNvPr id="17419" name="Picture 17418" descr="qr-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5376672"/>
            <a:ext cx="713232" cy="713232"/>
          </a:xfrm>
          <a:prstGeom prst="rect">
            <a:avLst/>
          </a:prstGeom>
        </p:spPr>
      </p:pic>
      <p:pic>
        <p:nvPicPr>
          <p:cNvPr id="17420" name="Picture 17419" descr="qr-sour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5376672"/>
            <a:ext cx="713232" cy="713232"/>
          </a:xfrm>
          <a:prstGeom prst="rect">
            <a:avLst/>
          </a:prstGeom>
        </p:spPr>
      </p:pic>
      <p:pic>
        <p:nvPicPr>
          <p:cNvPr id="17421" name="Picture 17420" descr="qr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5376672"/>
            <a:ext cx="713232" cy="713232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7388352" y="6053328"/>
            <a:ext cx="1481328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 u="none" i="0">
                <a:solidFill>
                  <a:srgbClr val="0070C0"/>
                </a:solidFill>
                <a:latin typeface="Arial"/>
              </a:rPr>
              <a:t>honey-chain-rust.vercel.app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869680" y="6053328"/>
            <a:ext cx="1481328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Source code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 u="none" i="0">
                <a:solidFill>
                  <a:srgbClr val="0070C0"/>
                </a:solidFill>
                <a:latin typeface="Arial"/>
              </a:rPr>
              <a:t>github.com/Suyash2527/HoneyChain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0351008" y="6053328"/>
            <a:ext cx="1481328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Verify a sample batch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 u="none" i="0">
                <a:solidFill>
                  <a:srgbClr val="0070C0"/>
                </a:solidFill>
                <a:latin typeface="Arial"/>
              </a:rPr>
              <a:t>live app, batch HC-2026-0008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