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sz="1700" b="1">
                <a:solidFill>
                  <a:srgbClr val="1F497D"/>
                </a:solidFill>
                <a:latin typeface="Arial"/>
              </a:rPr>
              <a:t>SIH26021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</a:t>
            </a:r>
            <a:r>
              <a:rPr sz="1400" b="1">
                <a:solidFill>
                  <a:srgbClr val="1F497D"/>
                </a:solidFill>
                <a:latin typeface="Arial"/>
              </a:rPr>
              <a:t>Honey Chain: A block chain-based system for honey traceability and smart beekeeping management.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sz="1700" b="1">
                <a:solidFill>
                  <a:srgbClr val="1F497D"/>
                </a:solidFill>
                <a:latin typeface="Arial"/>
              </a:rPr>
              <a:t>Agriculture, FoodTech &amp; Rural Development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sz="1700" b="1">
                <a:solidFill>
                  <a:srgbClr val="1F497D"/>
                </a:solidFill>
                <a:latin typeface="Arial"/>
              </a:rPr>
              <a:t>Software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Team ID- </a:t>
            </a:r>
            <a:r>
              <a:rPr sz="1700" b="1">
                <a:solidFill>
                  <a:srgbClr val="1F497D"/>
                </a:solidFill>
                <a:latin typeface="Arial"/>
              </a:rPr>
              <a:t>&lt;Team ID&gt;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portal)- </a:t>
            </a:r>
            <a:r>
              <a:rPr sz="1700" b="1">
                <a:solidFill>
                  <a:srgbClr val="1F497D"/>
                </a:solidFill>
                <a:latin typeface="Arial"/>
              </a:rPr>
              <a:t>Your Team Name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21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HONEY CHAIN – Blockchain-verified honey, hive to shelf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365760" y="1188720"/>
            <a:ext cx="694944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u="none">
                <a:solidFill>
                  <a:srgbClr val="1F497D"/>
                </a:solidFill>
                <a:latin typeface="Arial"/>
              </a:rPr>
              <a:t>❖ </a:t>
            </a:r>
            <a:r>
              <a:rPr sz="1500" b="1" u="sng">
                <a:solidFill>
                  <a:srgbClr val="1F497D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365760" y="1627632"/>
            <a:ext cx="6858000" cy="12618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u="none">
                <a:solidFill>
                  <a:srgbClr val="1F497D"/>
                </a:solidFill>
                <a:latin typeface="Arial"/>
              </a:rPr>
              <a:t>Detailed explanation of the proposed solution</a:t>
            </a:r>
          </a:p>
          <a:p>
            <a:pPr algn="l" marL="155448" indent="-155448">
              <a:spcBef>
                <a:spcPts val="0"/>
              </a:spcBef>
              <a:spcAft>
                <a:spcPts val="200"/>
              </a:spcAft>
              <a:buClr>
                <a:srgbClr val="E9A23B"/>
              </a:buClr>
              <a:buChar char="•"/>
            </a:pPr>
            <a:r>
              <a:rPr sz="1150" b="0" u="none">
                <a:solidFill>
                  <a:srgbClr val="1B1A17"/>
                </a:solidFill>
                <a:latin typeface="Arial"/>
              </a:rPr>
              <a:t>Every hive gets a digital ID; every harvest becomes a QR-coded batch</a:t>
            </a:r>
          </a:p>
          <a:p>
            <a:pPr algn="l" marL="155448" indent="-155448">
              <a:spcBef>
                <a:spcPts val="0"/>
              </a:spcBef>
              <a:spcAft>
                <a:spcPts val="200"/>
              </a:spcAft>
              <a:buClr>
                <a:srgbClr val="E9A23B"/>
              </a:buClr>
              <a:buChar char="•"/>
            </a:pPr>
            <a:r>
              <a:rPr sz="1150" b="0" u="none">
                <a:solidFill>
                  <a:srgbClr val="1B1A17"/>
                </a:solidFill>
                <a:latin typeface="Arial"/>
              </a:rPr>
              <a:t>Labs seal purity results (incl. NMR + rice-syrup marker) on the ledger</a:t>
            </a:r>
          </a:p>
          <a:p>
            <a:pPr algn="l" marL="155448" indent="-155448">
              <a:spcBef>
                <a:spcPts val="0"/>
              </a:spcBef>
              <a:spcAft>
                <a:spcPts val="200"/>
              </a:spcAft>
              <a:buClr>
                <a:srgbClr val="E9A23B"/>
              </a:buClr>
              <a:buChar char="•"/>
            </a:pPr>
            <a:r>
              <a:rPr sz="1150" b="0" u="none">
                <a:solidFill>
                  <a:srgbClr val="1B1A17"/>
                </a:solidFill>
                <a:latin typeface="Arial"/>
              </a:rPr>
              <a:t>Buyer scans the QR → origin, lab report, journey, 0-100 trust score</a:t>
            </a:r>
          </a:p>
          <a:p>
            <a:pPr algn="l" marL="155448" indent="-155448">
              <a:spcBef>
                <a:spcPts val="0"/>
              </a:spcBef>
              <a:spcAft>
                <a:spcPts val="200"/>
              </a:spcAft>
              <a:buClr>
                <a:srgbClr val="E9A23B"/>
              </a:buClr>
              <a:buChar char="•"/>
            </a:pPr>
            <a:r>
              <a:rPr sz="1150" b="0" u="none">
                <a:solidFill>
                  <a:srgbClr val="1B1A17"/>
                </a:solidFill>
                <a:latin typeface="Arial"/>
              </a:rPr>
              <a:t>IoT + AI monitor hive health and forecast yield; data anchored on-chain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365760" y="3310128"/>
            <a:ext cx="6858000" cy="10149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u="none">
                <a:solidFill>
                  <a:srgbClr val="1F497D"/>
                </a:solidFill>
                <a:latin typeface="Arial"/>
              </a:rPr>
              <a:t>How it addresses the problem</a:t>
            </a:r>
          </a:p>
          <a:p>
            <a:pPr algn="l" marL="155448" indent="-155448">
              <a:spcBef>
                <a:spcPts val="0"/>
              </a:spcBef>
              <a:spcAft>
                <a:spcPts val="200"/>
              </a:spcAft>
              <a:buClr>
                <a:srgbClr val="E9A23B"/>
              </a:buClr>
              <a:buChar char="•"/>
            </a:pPr>
            <a:r>
              <a:rPr sz="1150" b="0" u="none">
                <a:solidFill>
                  <a:srgbClr val="1B1A17"/>
                </a:solidFill>
                <a:latin typeface="Arial"/>
              </a:rPr>
              <a:t>No lab certificate on the ledger = no trust score, so fakes cannot pass</a:t>
            </a:r>
          </a:p>
          <a:p>
            <a:pPr algn="l" marL="155448" indent="-155448">
              <a:spcBef>
                <a:spcPts val="0"/>
              </a:spcBef>
              <a:spcAft>
                <a:spcPts val="200"/>
              </a:spcAft>
              <a:buClr>
                <a:srgbClr val="E9A23B"/>
              </a:buClr>
              <a:buChar char="•"/>
            </a:pPr>
            <a:r>
              <a:rPr sz="1150" b="0" u="none">
                <a:solidFill>
                  <a:srgbClr val="1B1A17"/>
                </a:solidFill>
                <a:latin typeface="Arial"/>
              </a:rPr>
              <a:t>Yield is cross-checked with hive data: "95 kg from 1 hive" gets flagged</a:t>
            </a:r>
          </a:p>
          <a:p>
            <a:pPr algn="l" marL="155448" indent="-155448">
              <a:spcBef>
                <a:spcPts val="0"/>
              </a:spcBef>
              <a:spcAft>
                <a:spcPts val="200"/>
              </a:spcAft>
              <a:buClr>
                <a:srgbClr val="E9A23B"/>
              </a:buClr>
              <a:buChar char="•"/>
            </a:pPr>
            <a:r>
              <a:rPr sz="1150" b="0" u="none">
                <a:solidFill>
                  <a:srgbClr val="1B1A17"/>
                </a:solidFill>
                <a:latin typeface="Arial"/>
              </a:rPr>
              <a:t>Provable quality earns beekeepers premium prices and direct buyers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365760" y="4617720"/>
            <a:ext cx="6858000" cy="10149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u="none">
                <a:solidFill>
                  <a:srgbClr val="1F497D"/>
                </a:solidFill>
                <a:latin typeface="Arial"/>
              </a:rPr>
              <a:t>Innovation and uniqueness of the solution</a:t>
            </a:r>
          </a:p>
          <a:p>
            <a:pPr algn="l" marL="155448" indent="-155448">
              <a:spcBef>
                <a:spcPts val="0"/>
              </a:spcBef>
              <a:spcAft>
                <a:spcPts val="200"/>
              </a:spcAft>
              <a:buClr>
                <a:srgbClr val="E9A23B"/>
              </a:buClr>
              <a:buChar char="•"/>
            </a:pPr>
            <a:r>
              <a:rPr sz="1150" b="0" u="none">
                <a:solidFill>
                  <a:srgbClr val="1B1A17"/>
                </a:solidFill>
                <a:latin typeface="Arial"/>
              </a:rPr>
              <a:t>Lab-agnostic trust layer: works with NMR, SMR, C4 and HMF results</a:t>
            </a:r>
          </a:p>
          <a:p>
            <a:pPr algn="l" marL="155448" indent="-155448">
              <a:spcBef>
                <a:spcPts val="0"/>
              </a:spcBef>
              <a:spcAft>
                <a:spcPts val="200"/>
              </a:spcAft>
              <a:buClr>
                <a:srgbClr val="E9A23B"/>
              </a:buClr>
              <a:buChar char="•"/>
            </a:pPr>
            <a:r>
              <a:rPr sz="1150" b="0" u="none">
                <a:solidFill>
                  <a:srgbClr val="1B1A17"/>
                </a:solidFill>
                <a:latin typeface="Arial"/>
              </a:rPr>
              <a:t>Sensor-anchored yield check catches blending that chemistry can miss</a:t>
            </a:r>
          </a:p>
          <a:p>
            <a:pPr algn="l" marL="155448" indent="-155448">
              <a:spcBef>
                <a:spcPts val="0"/>
              </a:spcBef>
              <a:spcAft>
                <a:spcPts val="200"/>
              </a:spcAft>
              <a:buClr>
                <a:srgbClr val="E9A23B"/>
              </a:buClr>
              <a:buChar char="•"/>
            </a:pPr>
            <a:r>
              <a:rPr sz="1150" b="0" u="none">
                <a:solidFill>
                  <a:srgbClr val="1B1A17"/>
                </a:solidFill>
                <a:latin typeface="Arial"/>
              </a:rPr>
              <a:t>Offline-first bilingual PWA + zero-fee permissioned chain for villages</a:t>
            </a:r>
          </a:p>
        </p:txBody>
      </p:sp>
      <p:pic>
        <p:nvPicPr>
          <p:cNvPr id="15366" name="Picture 15365" descr="phone-genu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234440"/>
            <a:ext cx="2007021" cy="4343400"/>
          </a:xfrm>
          <a:prstGeom prst="rect">
            <a:avLst/>
          </a:prstGeom>
          <a:ln w="12700">
            <a:solidFill>
              <a:srgbClr val="D5DEEB"/>
            </a:solidFill>
          </a:ln>
        </p:spPr>
      </p:pic>
      <p:pic>
        <p:nvPicPr>
          <p:cNvPr id="15367" name="Picture 15366" descr="phone-fak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0" y="1234440"/>
            <a:ext cx="2007021" cy="4343400"/>
          </a:xfrm>
          <a:prstGeom prst="rect">
            <a:avLst/>
          </a:prstGeom>
          <a:ln w="12700">
            <a:solidFill>
              <a:srgbClr val="D5DEEB"/>
            </a:solidFill>
          </a:ln>
        </p:spPr>
      </p:pic>
      <p:sp>
        <p:nvSpPr>
          <p:cNvPr id="15368" name="TextBox 15367"/>
          <p:cNvSpPr txBox="1"/>
          <p:nvPr/>
        </p:nvSpPr>
        <p:spPr>
          <a:xfrm>
            <a:off x="7498079" y="5614416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u="none">
                <a:solidFill>
                  <a:srgbClr val="2E7D4F"/>
                </a:solidFill>
                <a:latin typeface="Arial"/>
              </a:rPr>
              <a:t>Genuine batch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 u="none">
                <a:solidFill>
                  <a:srgbClr val="595959"/>
                </a:solidFill>
                <a:latin typeface="Arial"/>
              </a:rPr>
              <a:t>Trust score 100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9692640" y="5614416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u="none">
                <a:solidFill>
                  <a:srgbClr val="B3372F"/>
                </a:solidFill>
                <a:latin typeface="Arial"/>
              </a:rPr>
              <a:t>Fake batch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 u="none">
                <a:solidFill>
                  <a:srgbClr val="595959"/>
                </a:solidFill>
                <a:latin typeface="Arial"/>
              </a:rPr>
              <a:t>Trust score 20 - do not buy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188720"/>
            <a:ext cx="722376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u="none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>
                <a:solidFill>
                  <a:srgbClr val="1F497D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365760" y="1627632"/>
            <a:ext cx="1051560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 u="none">
                <a:solidFill>
                  <a:srgbClr val="FFFFFF"/>
                </a:solidFill>
                <a:latin typeface="Arial"/>
              </a:rPr>
              <a:t>Frontend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1463040" y="1627632"/>
            <a:ext cx="6035040" cy="438912"/>
          </a:xfrm>
          <a:prstGeom prst="rect">
            <a:avLst/>
          </a:prstGeom>
          <a:solidFill>
            <a:srgbClr val="F3F6FB"/>
          </a:solidFill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u="none">
                <a:solidFill>
                  <a:srgbClr val="1B1A17"/>
                </a:solidFill>
                <a:latin typeface="Arial"/>
              </a:rPr>
              <a:t>React 18 · Vite · offline-first installable PWA · QR camera scan · Web Crypto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365760" y="2139696"/>
            <a:ext cx="1051560" cy="438912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 u="none">
                <a:solidFill>
                  <a:srgbClr val="FFFFFF"/>
                </a:solidFill>
                <a:latin typeface="Arial"/>
              </a:rPr>
              <a:t>Ledger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1463040" y="2139696"/>
            <a:ext cx="6035040" cy="438912"/>
          </a:xfrm>
          <a:prstGeom prst="rect">
            <a:avLst/>
          </a:prstGeom>
          <a:solidFill>
            <a:srgbClr val="F3F6FB"/>
          </a:solidFill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u="none">
                <a:solidFill>
                  <a:srgbClr val="1B1A17"/>
                </a:solidFill>
                <a:latin typeface="Arial"/>
              </a:rPr>
              <a:t>SHA-256 hash-chain · Proof-of-Authority validators · Merkle roots · Solidity → Hyperledger Besu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365760" y="2651760"/>
            <a:ext cx="1051560" cy="43891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 u="none">
                <a:solidFill>
                  <a:srgbClr val="FFFFFF"/>
                </a:solidFill>
                <a:latin typeface="Arial"/>
              </a:rPr>
              <a:t>IoT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1463040" y="2651760"/>
            <a:ext cx="6035040" cy="438912"/>
          </a:xfrm>
          <a:prstGeom prst="rect">
            <a:avLst/>
          </a:prstGeom>
          <a:solidFill>
            <a:srgbClr val="F3F6FB"/>
          </a:solidFill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u="none">
                <a:solidFill>
                  <a:srgbClr val="1B1A17"/>
                </a:solidFill>
                <a:latin typeface="Arial"/>
              </a:rPr>
              <a:t>ESP32 · load cell · DS18B20 · DHT22 · MEMS mic · CO₂ · LoRa · solar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365760" y="3163824"/>
            <a:ext cx="1051560" cy="43891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 u="none">
                <a:solidFill>
                  <a:srgbClr val="FFFFFF"/>
                </a:solidFill>
                <a:latin typeface="Arial"/>
              </a:rPr>
              <a:t>AI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1463040" y="3163824"/>
            <a:ext cx="6035040" cy="438912"/>
          </a:xfrm>
          <a:prstGeom prst="rect">
            <a:avLst/>
          </a:prstGeom>
          <a:solidFill>
            <a:srgbClr val="F3F6FB"/>
          </a:solidFill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u="none">
                <a:solidFill>
                  <a:srgbClr val="1B1A17"/>
                </a:solidFill>
                <a:latin typeface="Arial"/>
              </a:rPr>
              <a:t>Explainable feature model (prototype) → CNN on hive audio via TensorFlow Lite Micro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365760" y="3675888"/>
            <a:ext cx="1051560" cy="438912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 u="none">
                <a:solidFill>
                  <a:srgbClr val="FFFFFF"/>
                </a:solidFill>
                <a:latin typeface="Arial"/>
              </a:rPr>
              <a:t>DevOps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1463040" y="3675888"/>
            <a:ext cx="6035040" cy="438912"/>
          </a:xfrm>
          <a:prstGeom prst="rect">
            <a:avLst/>
          </a:prstGeom>
          <a:solidFill>
            <a:srgbClr val="F3F6FB"/>
          </a:solidFill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u="none">
                <a:solidFill>
                  <a:srgbClr val="1B1A17"/>
                </a:solidFill>
                <a:latin typeface="Arial"/>
              </a:rPr>
              <a:t>GitHub Actions CI · GitHub Pages / Vercel / Docker (nginx) · service-worker caching</a:t>
            </a:r>
          </a:p>
        </p:txBody>
      </p:sp>
      <p:pic>
        <p:nvPicPr>
          <p:cNvPr id="17421" name="Picture 17420" descr="desk-hive-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79" y="1207008"/>
            <a:ext cx="4069080" cy="2543175"/>
          </a:xfrm>
          <a:prstGeom prst="rect">
            <a:avLst/>
          </a:prstGeom>
          <a:ln w="12700">
            <a:solidFill>
              <a:srgbClr val="D5DEEB"/>
            </a:solidFill>
          </a:ln>
        </p:spPr>
      </p:pic>
      <p:sp>
        <p:nvSpPr>
          <p:cNvPr id="17422" name="TextBox 17421"/>
          <p:cNvSpPr txBox="1"/>
          <p:nvPr/>
        </p:nvSpPr>
        <p:spPr>
          <a:xfrm>
            <a:off x="7726679" y="3730752"/>
            <a:ext cx="40690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u="none">
                <a:solidFill>
                  <a:srgbClr val="1F497D"/>
                </a:solidFill>
                <a:latin typeface="Arial"/>
              </a:rPr>
              <a:t>Working prototype: </a:t>
            </a:r>
            <a:r>
              <a:rPr sz="1000" b="0" u="none">
                <a:solidFill>
                  <a:srgbClr val="595959"/>
                </a:solidFill>
                <a:latin typeface="Arial"/>
              </a:rPr>
              <a:t>live hive dashboard - AI flags "Pre-swarm 98%" with advice and yield forecast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365760" y="4315968"/>
            <a:ext cx="1143000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u="none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>
                <a:solidFill>
                  <a:srgbClr val="1F497D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24" name="Pentagon 17423"/>
          <p:cNvSpPr/>
          <p:nvPr/>
        </p:nvSpPr>
        <p:spPr>
          <a:xfrm>
            <a:off x="365760" y="4754880"/>
            <a:ext cx="1828800" cy="548640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u="none">
                <a:solidFill>
                  <a:srgbClr val="FFFFFF"/>
                </a:solidFill>
                <a:latin typeface="Arial"/>
              </a:rPr>
              <a:t>1 Register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365760" y="5349240"/>
            <a:ext cx="182880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 u="none">
                <a:solidFill>
                  <a:srgbClr val="1B1A17"/>
                </a:solidFill>
                <a:latin typeface="Arial"/>
              </a:rPr>
              <a:t>Hive gets a digital ID</a:t>
            </a:r>
          </a:p>
        </p:txBody>
      </p:sp>
      <p:sp>
        <p:nvSpPr>
          <p:cNvPr id="17426" name="Pentagon 17425"/>
          <p:cNvSpPr/>
          <p:nvPr/>
        </p:nvSpPr>
        <p:spPr>
          <a:xfrm>
            <a:off x="2276856" y="4754880"/>
            <a:ext cx="1828800" cy="548640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u="none">
                <a:solidFill>
                  <a:srgbClr val="FFFFFF"/>
                </a:solidFill>
                <a:latin typeface="Arial"/>
              </a:rPr>
              <a:t>2 Sense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2276856" y="5349240"/>
            <a:ext cx="182880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 u="none">
                <a:solidFill>
                  <a:srgbClr val="1B1A17"/>
                </a:solidFill>
                <a:latin typeface="Arial"/>
              </a:rPr>
              <a:t>IoT + AI watch colony health</a:t>
            </a:r>
          </a:p>
        </p:txBody>
      </p:sp>
      <p:sp>
        <p:nvSpPr>
          <p:cNvPr id="17428" name="Pentagon 17427"/>
          <p:cNvSpPr/>
          <p:nvPr/>
        </p:nvSpPr>
        <p:spPr>
          <a:xfrm>
            <a:off x="4187952" y="4754880"/>
            <a:ext cx="1828800" cy="548640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u="none">
                <a:solidFill>
                  <a:srgbClr val="FFFFFF"/>
                </a:solidFill>
                <a:latin typeface="Arial"/>
              </a:rPr>
              <a:t>3 Harvest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187952" y="5349240"/>
            <a:ext cx="182880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 u="none">
                <a:solidFill>
                  <a:srgbClr val="1B1A17"/>
                </a:solidFill>
                <a:latin typeface="Arial"/>
              </a:rPr>
              <a:t>Batch + QR code created</a:t>
            </a:r>
          </a:p>
        </p:txBody>
      </p:sp>
      <p:sp>
        <p:nvSpPr>
          <p:cNvPr id="17430" name="Pentagon 17429"/>
          <p:cNvSpPr/>
          <p:nvPr/>
        </p:nvSpPr>
        <p:spPr>
          <a:xfrm>
            <a:off x="6099048" y="4754880"/>
            <a:ext cx="1828800" cy="548640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u="none">
                <a:solidFill>
                  <a:srgbClr val="FFFFFF"/>
                </a:solidFill>
                <a:latin typeface="Arial"/>
              </a:rPr>
              <a:t>4 Certify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6099048" y="5349240"/>
            <a:ext cx="182880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 u="none">
                <a:solidFill>
                  <a:srgbClr val="1B1A17"/>
                </a:solidFill>
                <a:latin typeface="Arial"/>
              </a:rPr>
              <a:t>Lab result (NMR/SMR/C4/HMF) sealed</a:t>
            </a:r>
          </a:p>
        </p:txBody>
      </p:sp>
      <p:sp>
        <p:nvSpPr>
          <p:cNvPr id="17432" name="Pentagon 17431"/>
          <p:cNvSpPr/>
          <p:nvPr/>
        </p:nvSpPr>
        <p:spPr>
          <a:xfrm>
            <a:off x="8010144" y="4754880"/>
            <a:ext cx="1828800" cy="548640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u="none">
                <a:solidFill>
                  <a:srgbClr val="FFFFFF"/>
                </a:solidFill>
                <a:latin typeface="Arial"/>
              </a:rPr>
              <a:t>5 Move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8010144" y="5349240"/>
            <a:ext cx="182880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 u="none">
                <a:solidFill>
                  <a:srgbClr val="1B1A17"/>
                </a:solidFill>
                <a:latin typeface="Arial"/>
              </a:rPr>
              <a:t>Every custody handover logged</a:t>
            </a:r>
          </a:p>
        </p:txBody>
      </p:sp>
      <p:sp>
        <p:nvSpPr>
          <p:cNvPr id="17434" name="Pentagon 17433"/>
          <p:cNvSpPr/>
          <p:nvPr/>
        </p:nvSpPr>
        <p:spPr>
          <a:xfrm>
            <a:off x="9921240" y="4754880"/>
            <a:ext cx="1828800" cy="548640"/>
          </a:xfrm>
          <a:prstGeom prst="homePlat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u="none">
                <a:solidFill>
                  <a:srgbClr val="FFFFFF"/>
                </a:solidFill>
                <a:latin typeface="Arial"/>
              </a:rPr>
              <a:t>6 Verify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9921240" y="5349240"/>
            <a:ext cx="182880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 u="none">
                <a:solidFill>
                  <a:srgbClr val="1B1A17"/>
                </a:solidFill>
                <a:latin typeface="Arial"/>
              </a:rPr>
              <a:t>Buyer scans QR: trust score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365760" y="5989320"/>
            <a:ext cx="114300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 u="none">
                <a:solidFill>
                  <a:srgbClr val="595959"/>
                </a:solidFill>
                <a:latin typeface="Arial"/>
              </a:rPr>
              <a:t>Only hashes go on-chain; raw sensor data stays local and is anchored as a Merkle root, so a 2G link is enough.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65760" y="1280160"/>
            <a:ext cx="370332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 u="none">
                <a:solidFill>
                  <a:srgbClr val="FFFFFF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65760" y="1737360"/>
            <a:ext cx="3703320" cy="2514600"/>
          </a:xfrm>
          <a:prstGeom prst="rect">
            <a:avLst/>
          </a:prstGeom>
          <a:solidFill>
            <a:srgbClr val="F3F6FB"/>
          </a:solidFill>
        </p:spPr>
        <p:txBody>
          <a:bodyPr wrap="square" anchor="t" lIns="109728" rIns="109728" tIns="27432" bIns="27432">
            <a:spAutoFit/>
          </a:bodyPr>
          <a:lstStyle/>
          <a:p>
            <a:pPr algn="l" marL="155448" indent="-155448">
              <a:spcBef>
                <a:spcPts val="0"/>
              </a:spcBef>
              <a:spcAft>
                <a:spcPts val="500"/>
              </a:spcAft>
              <a:buClr>
                <a:srgbClr val="2E7D4F"/>
              </a:buClr>
              <a:buChar char="•"/>
            </a:pPr>
            <a:r>
              <a:rPr sz="1150" b="0" u="none">
                <a:solidFill>
                  <a:srgbClr val="1B1A17"/>
                </a:solidFill>
                <a:latin typeface="Arial"/>
              </a:rPr>
              <a:t>Working prototype already live: ledger, QR verify, lab portal, hive AI</a:t>
            </a:r>
          </a:p>
          <a:p>
            <a:pPr algn="l" marL="155448" indent="-155448">
              <a:spcBef>
                <a:spcPts val="0"/>
              </a:spcBef>
              <a:spcAft>
                <a:spcPts val="500"/>
              </a:spcAft>
              <a:buClr>
                <a:srgbClr val="2E7D4F"/>
              </a:buClr>
              <a:buChar char="•"/>
            </a:pPr>
            <a:r>
              <a:rPr sz="1150" b="0" u="none">
                <a:solidFill>
                  <a:srgbClr val="1B1A17"/>
                </a:solidFill>
                <a:latin typeface="Arial"/>
              </a:rPr>
              <a:t>Estimated hardware ₹1.5-2.5k per hive; one LoRa gateway serves 20-40 hives*</a:t>
            </a:r>
          </a:p>
          <a:p>
            <a:pPr algn="l" marL="155448" indent="-155448">
              <a:spcBef>
                <a:spcPts val="0"/>
              </a:spcBef>
              <a:spcAft>
                <a:spcPts val="500"/>
              </a:spcAft>
              <a:buClr>
                <a:srgbClr val="2E7D4F"/>
              </a:buClr>
              <a:buChar char="•"/>
            </a:pPr>
            <a:r>
              <a:rPr sz="1150" b="0" u="none">
                <a:solidFill>
                  <a:srgbClr val="1B1A17"/>
                </a:solidFill>
                <a:latin typeface="Arial"/>
              </a:rPr>
              <a:t>Permissioned PoA: no mining, no gas; validators are KVIC, FSSAI and labs</a:t>
            </a:r>
          </a:p>
          <a:p>
            <a:pPr algn="l" marL="155448" indent="-155448">
              <a:spcBef>
                <a:spcPts val="0"/>
              </a:spcBef>
              <a:spcAft>
                <a:spcPts val="500"/>
              </a:spcAft>
              <a:buClr>
                <a:srgbClr val="2E7D4F"/>
              </a:buClr>
              <a:buChar char="•"/>
            </a:pPr>
            <a:r>
              <a:rPr sz="1150" b="0" u="none">
                <a:solidFill>
                  <a:srgbClr val="1B1A17"/>
                </a:solidFill>
                <a:latin typeface="Arial"/>
              </a:rPr>
              <a:t>Fits existing NBHM / KVIC clusters and NABL-accredited labs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206240" y="1280160"/>
            <a:ext cx="3703320" cy="457200"/>
          </a:xfrm>
          <a:prstGeom prst="rect">
            <a:avLst/>
          </a:prstGeom>
          <a:solidFill>
            <a:srgbClr val="B33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 u="none">
                <a:solidFill>
                  <a:srgbClr val="FFFFFF"/>
                </a:solidFill>
                <a:latin typeface="Arial"/>
              </a:rPr>
              <a:t>Potential challenges and risks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206240" y="1737360"/>
            <a:ext cx="3703320" cy="2514600"/>
          </a:xfrm>
          <a:prstGeom prst="rect">
            <a:avLst/>
          </a:prstGeom>
          <a:solidFill>
            <a:srgbClr val="F3F6FB"/>
          </a:solidFill>
        </p:spPr>
        <p:txBody>
          <a:bodyPr wrap="square" anchor="t" lIns="109728" rIns="109728" tIns="27432" bIns="27432">
            <a:spAutoFit/>
          </a:bodyPr>
          <a:lstStyle/>
          <a:p>
            <a:pPr algn="l" marL="155448" indent="-155448">
              <a:spcBef>
                <a:spcPts val="0"/>
              </a:spcBef>
              <a:spcAft>
                <a:spcPts val="500"/>
              </a:spcAft>
              <a:buClr>
                <a:srgbClr val="B3372F"/>
              </a:buClr>
              <a:buChar char="•"/>
            </a:pPr>
            <a:r>
              <a:rPr sz="1150" b="0" u="none">
                <a:solidFill>
                  <a:srgbClr val="1B1A17"/>
                </a:solidFill>
                <a:latin typeface="Arial"/>
              </a:rPr>
              <a:t>Garbage-in: a dishonest lab or beekeeper can enter false data</a:t>
            </a:r>
          </a:p>
          <a:p>
            <a:pPr algn="l" marL="155448" indent="-155448">
              <a:spcBef>
                <a:spcPts val="0"/>
              </a:spcBef>
              <a:spcAft>
                <a:spcPts val="500"/>
              </a:spcAft>
              <a:buClr>
                <a:srgbClr val="B3372F"/>
              </a:buClr>
              <a:buChar char="•"/>
            </a:pPr>
            <a:r>
              <a:rPr sz="1150" b="0" u="none">
                <a:solidFill>
                  <a:srgbClr val="1B1A17"/>
                </a:solidFill>
                <a:latin typeface="Arial"/>
              </a:rPr>
              <a:t>Engineered syrups can pass basic tests (CSE 2020: NMR failures)</a:t>
            </a:r>
          </a:p>
          <a:p>
            <a:pPr algn="l" marL="155448" indent="-155448">
              <a:spcBef>
                <a:spcPts val="0"/>
              </a:spcBef>
              <a:spcAft>
                <a:spcPts val="500"/>
              </a:spcAft>
              <a:buClr>
                <a:srgbClr val="B3372F"/>
              </a:buClr>
              <a:buChar char="•"/>
            </a:pPr>
            <a:r>
              <a:rPr sz="1150" b="0" u="none">
                <a:solidFill>
                  <a:srgbClr val="1B1A17"/>
                </a:solidFill>
                <a:latin typeface="Arial"/>
              </a:rPr>
              <a:t>Patchy connectivity and low digital literacy</a:t>
            </a:r>
          </a:p>
          <a:p>
            <a:pPr algn="l" marL="155448" indent="-155448">
              <a:spcBef>
                <a:spcPts val="0"/>
              </a:spcBef>
              <a:spcAft>
                <a:spcPts val="500"/>
              </a:spcAft>
              <a:buClr>
                <a:srgbClr val="B3372F"/>
              </a:buClr>
              <a:buChar char="•"/>
            </a:pPr>
            <a:r>
              <a:rPr sz="1150" b="0" u="none">
                <a:solidFill>
                  <a:srgbClr val="1B1A17"/>
                </a:solidFill>
                <a:latin typeface="Arial"/>
              </a:rPr>
              <a:t>QR cloning and jar refilling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8046720" y="1280160"/>
            <a:ext cx="3703320" cy="45720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 u="none">
                <a:solidFill>
                  <a:srgbClr val="FFFFFF"/>
                </a:solidFill>
                <a:latin typeface="Arial"/>
              </a:rPr>
              <a:t>Strategies for overcoming these challenges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8046720" y="1737360"/>
            <a:ext cx="3703320" cy="2514600"/>
          </a:xfrm>
          <a:prstGeom prst="rect">
            <a:avLst/>
          </a:prstGeom>
          <a:solidFill>
            <a:srgbClr val="F3F6FB"/>
          </a:solidFill>
        </p:spPr>
        <p:txBody>
          <a:bodyPr wrap="square" anchor="t" lIns="109728" rIns="109728" tIns="27432" bIns="27432">
            <a:spAutoFit/>
          </a:bodyPr>
          <a:lstStyle/>
          <a:p>
            <a:pPr algn="l" marL="155448" indent="-155448">
              <a:spcBef>
                <a:spcPts val="0"/>
              </a:spcBef>
              <a:spcAft>
                <a:spcPts val="500"/>
              </a:spcAft>
              <a:buClr>
                <a:srgbClr val="1F497D"/>
              </a:buClr>
              <a:buChar char="•"/>
            </a:pPr>
            <a:r>
              <a:rPr sz="1150" b="0" u="none">
                <a:solidFill>
                  <a:srgbClr val="1B1A17"/>
                </a:solidFill>
                <a:latin typeface="Arial"/>
              </a:rPr>
              <a:t>Accredited-lab keys, random audits, IoT weight vs claimed-yield check</a:t>
            </a:r>
          </a:p>
          <a:p>
            <a:pPr algn="l" marL="155448" indent="-155448">
              <a:spcBef>
                <a:spcPts val="0"/>
              </a:spcBef>
              <a:spcAft>
                <a:spcPts val="500"/>
              </a:spcAft>
              <a:buClr>
                <a:srgbClr val="1F497D"/>
              </a:buClr>
              <a:buChar char="•"/>
            </a:pPr>
            <a:r>
              <a:rPr sz="1150" b="0" u="none">
                <a:solidFill>
                  <a:srgbClr val="1B1A17"/>
                </a:solidFill>
                <a:latin typeface="Arial"/>
              </a:rPr>
              <a:t>Anchor NMR + rice-syrup marker results; design stays lab-agnostic</a:t>
            </a:r>
          </a:p>
          <a:p>
            <a:pPr algn="l" marL="155448" indent="-155448">
              <a:spcBef>
                <a:spcPts val="0"/>
              </a:spcBef>
              <a:spcAft>
                <a:spcPts val="500"/>
              </a:spcAft>
              <a:buClr>
                <a:srgbClr val="1F497D"/>
              </a:buClr>
              <a:buChar char="•"/>
            </a:pPr>
            <a:r>
              <a:rPr sz="1150" b="0" u="none">
                <a:solidFill>
                  <a:srgbClr val="1B1A17"/>
                </a:solidFill>
                <a:latin typeface="Arial"/>
              </a:rPr>
              <a:t>Offline-first bilingual PWA, QR-first flows, LoRa gateways</a:t>
            </a:r>
          </a:p>
          <a:p>
            <a:pPr algn="l" marL="155448" indent="-155448">
              <a:spcBef>
                <a:spcPts val="0"/>
              </a:spcBef>
              <a:spcAft>
                <a:spcPts val="500"/>
              </a:spcAft>
              <a:buClr>
                <a:srgbClr val="1F497D"/>
              </a:buClr>
              <a:buChar char="•"/>
            </a:pPr>
            <a:r>
              <a:rPr sz="1150" b="0" u="none">
                <a:solidFill>
                  <a:srgbClr val="1B1A17"/>
                </a:solidFill>
                <a:latin typeface="Arial"/>
              </a:rPr>
              <a:t>Per-jar serials and single-use claim codes (roadmap)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365760" y="4434840"/>
            <a:ext cx="11430000" cy="32918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/>
            <a:r>
              <a:rPr sz="1200" b="1" u="none">
                <a:solidFill>
                  <a:srgbClr val="FFFFFF"/>
                </a:solidFill>
                <a:latin typeface="Arial"/>
              </a:rPr>
              <a:t>Validation and rollout plan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57200" y="4791456"/>
            <a:ext cx="113385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u="none">
                <a:solidFill>
                  <a:srgbClr val="1B1A17"/>
                </a:solidFill>
                <a:latin typeface="Arial"/>
              </a:rPr>
              <a:t>Validate first: 10-minute interviews with 5 beekeepers, 2 NABL labs and 1 KVIC field officer (script prepared), then run the pilot.</a:t>
            </a:r>
          </a:p>
        </p:txBody>
      </p:sp>
      <p:sp>
        <p:nvSpPr>
          <p:cNvPr id="17418" name="Pentagon 17417"/>
          <p:cNvSpPr/>
          <p:nvPr/>
        </p:nvSpPr>
        <p:spPr>
          <a:xfrm>
            <a:off x="365760" y="5212080"/>
            <a:ext cx="2788920" cy="457200"/>
          </a:xfrm>
          <a:prstGeom prst="homePlat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 u="none">
                <a:solidFill>
                  <a:srgbClr val="FFFFFF"/>
                </a:solidFill>
                <a:latin typeface="Arial"/>
              </a:rPr>
              <a:t>Pilot · 0-3 months</a:t>
            </a:r>
          </a:p>
        </p:txBody>
      </p:sp>
      <p:sp>
        <p:nvSpPr>
          <p:cNvPr id="17419" name="Pentagon 17418"/>
          <p:cNvSpPr/>
          <p:nvPr/>
        </p:nvSpPr>
        <p:spPr>
          <a:xfrm>
            <a:off x="3236976" y="5212080"/>
            <a:ext cx="2788920" cy="457200"/>
          </a:xfrm>
          <a:prstGeom prst="homePlate">
            <a:avLst/>
          </a:prstGeom>
          <a:solidFill>
            <a:srgbClr val="2F6B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 u="none">
                <a:solidFill>
                  <a:srgbClr val="FFFFFF"/>
                </a:solidFill>
                <a:latin typeface="Arial"/>
              </a:rPr>
              <a:t>State · 4-9 months</a:t>
            </a:r>
          </a:p>
        </p:txBody>
      </p:sp>
      <p:sp>
        <p:nvSpPr>
          <p:cNvPr id="17420" name="Pentagon 17419"/>
          <p:cNvSpPr/>
          <p:nvPr/>
        </p:nvSpPr>
        <p:spPr>
          <a:xfrm>
            <a:off x="6108192" y="5212080"/>
            <a:ext cx="2788920" cy="457200"/>
          </a:xfrm>
          <a:prstGeom prst="homePlat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 u="none">
                <a:solidFill>
                  <a:srgbClr val="FFFFFF"/>
                </a:solidFill>
                <a:latin typeface="Arial"/>
              </a:rPr>
              <a:t>Regional · 10-18 months</a:t>
            </a:r>
          </a:p>
        </p:txBody>
      </p:sp>
      <p:sp>
        <p:nvSpPr>
          <p:cNvPr id="17421" name="Pentagon 17420"/>
          <p:cNvSpPr/>
          <p:nvPr/>
        </p:nvSpPr>
        <p:spPr>
          <a:xfrm>
            <a:off x="8979408" y="5212080"/>
            <a:ext cx="2788920" cy="457200"/>
          </a:xfrm>
          <a:prstGeom prst="homePlate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 u="none">
                <a:solidFill>
                  <a:srgbClr val="1B1A17"/>
                </a:solidFill>
                <a:latin typeface="Arial"/>
              </a:rPr>
              <a:t>National · Year 2+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365760" y="5705856"/>
            <a:ext cx="2788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 u="none">
                <a:solidFill>
                  <a:srgbClr val="1B1A17"/>
                </a:solidFill>
                <a:latin typeface="Arial"/>
              </a:rPr>
              <a:t>2 clusters · 50 beekeepers · 100 hives · 1 lab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3236976" y="5705856"/>
            <a:ext cx="2788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 u="none">
                <a:solidFill>
                  <a:srgbClr val="1B1A17"/>
                </a:solidFill>
                <a:latin typeface="Arial"/>
              </a:rPr>
              <a:t>10 clusters · 3 states · QR at Khadi outlets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6108192" y="5705856"/>
            <a:ext cx="2788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 u="none">
                <a:solidFill>
                  <a:srgbClr val="1B1A17"/>
                </a:solidFill>
                <a:latin typeface="Arial"/>
              </a:rPr>
              <a:t>All Honey Mission states · FSSAI dashboard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8979408" y="5705856"/>
            <a:ext cx="2788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 u="none">
                <a:solidFill>
                  <a:srgbClr val="1B1A17"/>
                </a:solidFill>
                <a:latin typeface="Arial"/>
              </a:rPr>
              <a:t>Open API · export certificates · trained AI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365760" y="6108192"/>
            <a:ext cx="114300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u="none">
                <a:solidFill>
                  <a:srgbClr val="595959"/>
                </a:solidFill>
                <a:latin typeface="Arial"/>
              </a:rPr>
              <a:t>*Planning estimates, to be validated during the pilot.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188720"/>
            <a:ext cx="731520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u="none">
                <a:solidFill>
                  <a:srgbClr val="1F497D"/>
                </a:solidFill>
                <a:latin typeface="Arial"/>
              </a:rPr>
              <a:t>❖ </a:t>
            </a:r>
            <a:r>
              <a:rPr sz="1400" b="1" u="sng">
                <a:solidFill>
                  <a:srgbClr val="1F497D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365760" y="1600200"/>
            <a:ext cx="3520440" cy="32918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/>
            <a:r>
              <a:rPr sz="1150" b="1" u="none">
                <a:solidFill>
                  <a:srgbClr val="FFFFFF"/>
                </a:solidFill>
                <a:latin typeface="Arial"/>
              </a:rPr>
              <a:t>Beekeepers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65760" y="1929384"/>
            <a:ext cx="3520440" cy="960120"/>
          </a:xfrm>
          <a:prstGeom prst="rect">
            <a:avLst/>
          </a:prstGeom>
          <a:solidFill>
            <a:srgbClr val="F3F6FB"/>
          </a:solidFill>
        </p:spPr>
        <p:txBody>
          <a:bodyPr wrap="square" anchor="t" tIns="27432" bIns="27432">
            <a:spAutoFit/>
          </a:bodyPr>
          <a:lstStyle/>
          <a:p>
            <a:pPr algn="l" marL="155448" indent="-155448">
              <a:spcBef>
                <a:spcPts val="0"/>
              </a:spcBef>
              <a:spcAft>
                <a:spcPts val="300"/>
              </a:spcAft>
              <a:buClr>
                <a:srgbClr val="E9A23B"/>
              </a:buClr>
              <a:buChar char="•"/>
            </a:pPr>
            <a:r>
              <a:rPr sz="1100" b="0" u="none">
                <a:solidFill>
                  <a:srgbClr val="1B1A17"/>
                </a:solidFill>
                <a:latin typeface="Arial"/>
              </a:rPr>
              <a:t>Proof of quality → premium price, direct buyers</a:t>
            </a:r>
          </a:p>
          <a:p>
            <a:pPr algn="l" marL="155448" indent="-155448">
              <a:spcBef>
                <a:spcPts val="0"/>
              </a:spcBef>
              <a:spcAft>
                <a:spcPts val="300"/>
              </a:spcAft>
              <a:buClr>
                <a:srgbClr val="E9A23B"/>
              </a:buClr>
              <a:buChar char="•"/>
            </a:pPr>
            <a:r>
              <a:rPr sz="1100" b="0" u="none">
                <a:solidFill>
                  <a:srgbClr val="1B1A17"/>
                </a:solidFill>
                <a:latin typeface="Arial"/>
              </a:rPr>
              <a:t>Early disease alerts cut colony loss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3977640" y="1600200"/>
            <a:ext cx="3520440" cy="32918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/>
            <a:r>
              <a:rPr sz="1150" b="1" u="none">
                <a:solidFill>
                  <a:srgbClr val="FFFFFF"/>
                </a:solidFill>
                <a:latin typeface="Arial"/>
              </a:rPr>
              <a:t>Consumers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977640" y="1929384"/>
            <a:ext cx="3520440" cy="960120"/>
          </a:xfrm>
          <a:prstGeom prst="rect">
            <a:avLst/>
          </a:prstGeom>
          <a:solidFill>
            <a:srgbClr val="F3F6FB"/>
          </a:solidFill>
        </p:spPr>
        <p:txBody>
          <a:bodyPr wrap="square" anchor="t" tIns="27432" bIns="27432">
            <a:spAutoFit/>
          </a:bodyPr>
          <a:lstStyle/>
          <a:p>
            <a:pPr algn="l" marL="155448" indent="-155448">
              <a:spcBef>
                <a:spcPts val="0"/>
              </a:spcBef>
              <a:spcAft>
                <a:spcPts val="300"/>
              </a:spcAft>
              <a:buClr>
                <a:srgbClr val="E9A23B"/>
              </a:buClr>
              <a:buChar char="•"/>
            </a:pPr>
            <a:r>
              <a:rPr sz="1100" b="0" u="none">
                <a:solidFill>
                  <a:srgbClr val="1B1A17"/>
                </a:solidFill>
                <a:latin typeface="Arial"/>
              </a:rPr>
              <a:t>Scan-to-verify in seconds</a:t>
            </a:r>
          </a:p>
          <a:p>
            <a:pPr algn="l" marL="155448" indent="-155448">
              <a:spcBef>
                <a:spcPts val="0"/>
              </a:spcBef>
              <a:spcAft>
                <a:spcPts val="300"/>
              </a:spcAft>
              <a:buClr>
                <a:srgbClr val="E9A23B"/>
              </a:buClr>
              <a:buChar char="•"/>
            </a:pPr>
            <a:r>
              <a:rPr sz="1100" b="0" u="none">
                <a:solidFill>
                  <a:srgbClr val="1B1A17"/>
                </a:solidFill>
                <a:latin typeface="Arial"/>
              </a:rPr>
              <a:t>Fake batches flagged before purchase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365760" y="2971800"/>
            <a:ext cx="3520440" cy="32918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/>
            <a:r>
              <a:rPr sz="1150" b="1" u="none">
                <a:solidFill>
                  <a:srgbClr val="FFFFFF"/>
                </a:solidFill>
                <a:latin typeface="Arial"/>
              </a:rPr>
              <a:t>KVIC &amp; regulators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65760" y="3300984"/>
            <a:ext cx="3520440" cy="960120"/>
          </a:xfrm>
          <a:prstGeom prst="rect">
            <a:avLst/>
          </a:prstGeom>
          <a:solidFill>
            <a:srgbClr val="F3F6FB"/>
          </a:solidFill>
        </p:spPr>
        <p:txBody>
          <a:bodyPr wrap="square" anchor="t" tIns="27432" bIns="27432">
            <a:spAutoFit/>
          </a:bodyPr>
          <a:lstStyle/>
          <a:p>
            <a:pPr algn="l" marL="155448" indent="-155448">
              <a:spcBef>
                <a:spcPts val="0"/>
              </a:spcBef>
              <a:spcAft>
                <a:spcPts val="300"/>
              </a:spcAft>
              <a:buClr>
                <a:srgbClr val="E9A23B"/>
              </a:buClr>
              <a:buChar char="•"/>
            </a:pPr>
            <a:r>
              <a:rPr sz="1100" b="0" u="none">
                <a:solidFill>
                  <a:srgbClr val="1B1A17"/>
                </a:solidFill>
                <a:latin typeface="Arial"/>
              </a:rPr>
              <a:t>Cluster dashboards: output, adulteration flags</a:t>
            </a:r>
          </a:p>
          <a:p>
            <a:pPr algn="l" marL="155448" indent="-155448">
              <a:spcBef>
                <a:spcPts val="0"/>
              </a:spcBef>
              <a:spcAft>
                <a:spcPts val="300"/>
              </a:spcAft>
              <a:buClr>
                <a:srgbClr val="E9A23B"/>
              </a:buClr>
              <a:buChar char="•"/>
            </a:pPr>
            <a:r>
              <a:rPr sz="1100" b="0" u="none">
                <a:solidFill>
                  <a:srgbClr val="1B1A17"/>
                </a:solidFill>
                <a:latin typeface="Arial"/>
              </a:rPr>
              <a:t>Targeted extension support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3977640" y="2971800"/>
            <a:ext cx="3520440" cy="32918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l"/>
            <a:r>
              <a:rPr sz="1150" b="1" u="none">
                <a:solidFill>
                  <a:srgbClr val="FFFFFF"/>
                </a:solidFill>
                <a:latin typeface="Arial"/>
              </a:rPr>
              <a:t>Processors &amp; retailers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3977640" y="3300984"/>
            <a:ext cx="3520440" cy="960120"/>
          </a:xfrm>
          <a:prstGeom prst="rect">
            <a:avLst/>
          </a:prstGeom>
          <a:solidFill>
            <a:srgbClr val="F3F6FB"/>
          </a:solidFill>
        </p:spPr>
        <p:txBody>
          <a:bodyPr wrap="square" anchor="t" tIns="27432" bIns="27432">
            <a:spAutoFit/>
          </a:bodyPr>
          <a:lstStyle/>
          <a:p>
            <a:pPr algn="l" marL="155448" indent="-155448">
              <a:spcBef>
                <a:spcPts val="0"/>
              </a:spcBef>
              <a:spcAft>
                <a:spcPts val="300"/>
              </a:spcAft>
              <a:buClr>
                <a:srgbClr val="E9A23B"/>
              </a:buClr>
              <a:buChar char="•"/>
            </a:pPr>
            <a:r>
              <a:rPr sz="1100" b="0" u="none">
                <a:solidFill>
                  <a:srgbClr val="1B1A17"/>
                </a:solidFill>
                <a:latin typeface="Arial"/>
              </a:rPr>
              <a:t>Trusted supply chain, lower recall risk</a:t>
            </a:r>
          </a:p>
          <a:p>
            <a:pPr algn="l" marL="155448" indent="-155448">
              <a:spcBef>
                <a:spcPts val="0"/>
              </a:spcBef>
              <a:spcAft>
                <a:spcPts val="300"/>
              </a:spcAft>
              <a:buClr>
                <a:srgbClr val="E9A23B"/>
              </a:buClr>
              <a:buChar char="•"/>
            </a:pPr>
            <a:r>
              <a:rPr sz="1100" b="0" u="none">
                <a:solidFill>
                  <a:srgbClr val="1B1A17"/>
                </a:solidFill>
                <a:latin typeface="Arial"/>
              </a:rPr>
              <a:t>Verified, premium-ready listings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65760" y="4407408"/>
            <a:ext cx="731520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u="none">
                <a:solidFill>
                  <a:srgbClr val="1F497D"/>
                </a:solidFill>
                <a:latin typeface="Arial"/>
              </a:rPr>
              <a:t>❖ </a:t>
            </a:r>
            <a:r>
              <a:rPr sz="1400" b="1" u="sng">
                <a:solidFill>
                  <a:srgbClr val="1F497D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20" name="Rectangle 17419"/>
          <p:cNvSpPr/>
          <p:nvPr/>
        </p:nvSpPr>
        <p:spPr>
          <a:xfrm>
            <a:off x="365760" y="4800600"/>
            <a:ext cx="2331720" cy="31089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 u="none">
                <a:solidFill>
                  <a:srgbClr val="FFFFFF"/>
                </a:solidFill>
                <a:latin typeface="Arial"/>
              </a:rPr>
              <a:t>Social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365760" y="5111496"/>
            <a:ext cx="2331720" cy="1143000"/>
          </a:xfrm>
          <a:prstGeom prst="rect">
            <a:avLst/>
          </a:prstGeom>
          <a:solidFill>
            <a:srgbClr val="F3F6FB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55448" indent="-155448">
              <a:spcBef>
                <a:spcPts val="0"/>
              </a:spcBef>
              <a:spcAft>
                <a:spcPts val="200"/>
              </a:spcAft>
              <a:buClr>
                <a:srgbClr val="2E7D4F"/>
              </a:buClr>
              <a:buChar char="•"/>
            </a:pPr>
            <a:r>
              <a:rPr sz="1050" b="0" u="none">
                <a:solidFill>
                  <a:srgbClr val="1B1A17"/>
                </a:solidFill>
                <a:latin typeface="Arial"/>
              </a:rPr>
              <a:t>Trust in rural produce</a:t>
            </a:r>
          </a:p>
          <a:p>
            <a:pPr algn="l" marL="155448" indent="-155448">
              <a:spcBef>
                <a:spcPts val="0"/>
              </a:spcBef>
              <a:spcAft>
                <a:spcPts val="200"/>
              </a:spcAft>
              <a:buClr>
                <a:srgbClr val="2E7D4F"/>
              </a:buClr>
              <a:buChar char="•"/>
            </a:pPr>
            <a:r>
              <a:rPr sz="1050" b="0" u="none">
                <a:solidFill>
                  <a:srgbClr val="1B1A17"/>
                </a:solidFill>
                <a:latin typeface="Arial"/>
              </a:rPr>
              <a:t>Livelihood security incl. SHGs</a:t>
            </a:r>
          </a:p>
          <a:p>
            <a:pPr algn="l" marL="155448" indent="-155448">
              <a:spcBef>
                <a:spcPts val="0"/>
              </a:spcBef>
              <a:spcAft>
                <a:spcPts val="200"/>
              </a:spcAft>
              <a:buClr>
                <a:srgbClr val="2E7D4F"/>
              </a:buClr>
              <a:buChar char="•"/>
            </a:pPr>
            <a:r>
              <a:rPr sz="1050" b="0" u="none">
                <a:solidFill>
                  <a:srgbClr val="1B1A17"/>
                </a:solidFill>
                <a:latin typeface="Arial"/>
              </a:rPr>
              <a:t>Bilingual, low-literacy UX</a:t>
            </a:r>
          </a:p>
        </p:txBody>
      </p:sp>
      <p:sp>
        <p:nvSpPr>
          <p:cNvPr id="17422" name="Rectangle 17421"/>
          <p:cNvSpPr/>
          <p:nvPr/>
        </p:nvSpPr>
        <p:spPr>
          <a:xfrm>
            <a:off x="2788920" y="4800600"/>
            <a:ext cx="2331720" cy="310896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 u="none">
                <a:solidFill>
                  <a:srgbClr val="1B1A17"/>
                </a:solidFill>
                <a:latin typeface="Arial"/>
              </a:rPr>
              <a:t>Economic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2788920" y="5111496"/>
            <a:ext cx="2331720" cy="1143000"/>
          </a:xfrm>
          <a:prstGeom prst="rect">
            <a:avLst/>
          </a:prstGeom>
          <a:solidFill>
            <a:srgbClr val="F3F6FB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55448" indent="-155448">
              <a:spcBef>
                <a:spcPts val="0"/>
              </a:spcBef>
              <a:spcAft>
                <a:spcPts val="200"/>
              </a:spcAft>
              <a:buClr>
                <a:srgbClr val="E9A23B"/>
              </a:buClr>
              <a:buChar char="•"/>
            </a:pPr>
            <a:r>
              <a:rPr sz="1050" b="0" u="none">
                <a:solidFill>
                  <a:srgbClr val="1B1A17"/>
                </a:solidFill>
                <a:latin typeface="Arial"/>
              </a:rPr>
              <a:t>Higher realisation per kg</a:t>
            </a:r>
          </a:p>
          <a:p>
            <a:pPr algn="l" marL="155448" indent="-155448">
              <a:spcBef>
                <a:spcPts val="0"/>
              </a:spcBef>
              <a:spcAft>
                <a:spcPts val="200"/>
              </a:spcAft>
              <a:buClr>
                <a:srgbClr val="E9A23B"/>
              </a:buClr>
              <a:buChar char="•"/>
            </a:pPr>
            <a:r>
              <a:rPr sz="1050" b="0" u="none">
                <a:solidFill>
                  <a:srgbClr val="1B1A17"/>
                </a:solidFill>
                <a:latin typeface="Arial"/>
              </a:rPr>
              <a:t>Fewer fraud losses for buyers</a:t>
            </a:r>
          </a:p>
          <a:p>
            <a:pPr algn="l" marL="155448" indent="-155448">
              <a:spcBef>
                <a:spcPts val="0"/>
              </a:spcBef>
              <a:spcAft>
                <a:spcPts val="200"/>
              </a:spcAft>
              <a:buClr>
                <a:srgbClr val="E9A23B"/>
              </a:buClr>
              <a:buChar char="•"/>
            </a:pPr>
            <a:r>
              <a:rPr sz="1050" b="0" u="none">
                <a:solidFill>
                  <a:srgbClr val="1B1A17"/>
                </a:solidFill>
                <a:latin typeface="Arial"/>
              </a:rPr>
              <a:t>Export-ready traceability</a:t>
            </a:r>
          </a:p>
        </p:txBody>
      </p:sp>
      <p:sp>
        <p:nvSpPr>
          <p:cNvPr id="17424" name="Rectangle 17423"/>
          <p:cNvSpPr/>
          <p:nvPr/>
        </p:nvSpPr>
        <p:spPr>
          <a:xfrm>
            <a:off x="5212080" y="4800600"/>
            <a:ext cx="2331720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 u="none">
                <a:solidFill>
                  <a:srgbClr val="FFFFFF"/>
                </a:solidFill>
                <a:latin typeface="Arial"/>
              </a:rPr>
              <a:t>Environmental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5212080" y="5111496"/>
            <a:ext cx="2331720" cy="1143000"/>
          </a:xfrm>
          <a:prstGeom prst="rect">
            <a:avLst/>
          </a:prstGeom>
          <a:solidFill>
            <a:srgbClr val="F3F6FB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55448" indent="-155448"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50" b="0" u="none">
                <a:solidFill>
                  <a:srgbClr val="1B1A17"/>
                </a:solidFill>
                <a:latin typeface="Arial"/>
              </a:rPr>
              <a:t>Healthier colonies → pollination</a:t>
            </a:r>
          </a:p>
          <a:p>
            <a:pPr algn="l" marL="155448" indent="-155448"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50" b="0" u="none">
                <a:solidFill>
                  <a:srgbClr val="1B1A17"/>
                </a:solidFill>
                <a:latin typeface="Arial"/>
              </a:rPr>
              <a:t>Targeted treatment, less chemical</a:t>
            </a:r>
          </a:p>
          <a:p>
            <a:pPr algn="l" marL="155448" indent="-155448"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50" b="0" u="none">
                <a:solidFill>
                  <a:srgbClr val="1B1A17"/>
                </a:solidFill>
                <a:latin typeface="Arial"/>
              </a:rPr>
              <a:t>Low-energy ledger (no mining)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7863840" y="1188720"/>
            <a:ext cx="3931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u="none">
                <a:solidFill>
                  <a:srgbClr val="1F497D"/>
                </a:solidFill>
                <a:latin typeface="Arial"/>
              </a:rPr>
              <a:t>WHY NOW - from public sources</a:t>
            </a:r>
          </a:p>
        </p:txBody>
      </p:sp>
      <p:sp>
        <p:nvSpPr>
          <p:cNvPr id="17427" name="Rectangle 17426"/>
          <p:cNvSpPr/>
          <p:nvPr/>
        </p:nvSpPr>
        <p:spPr>
          <a:xfrm>
            <a:off x="7863840" y="1600200"/>
            <a:ext cx="82296" cy="1371600"/>
          </a:xfrm>
          <a:prstGeom prst="rect">
            <a:avLst/>
          </a:prstGeom>
          <a:solidFill>
            <a:srgbClr val="B33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8028431" y="1581912"/>
            <a:ext cx="3794760" cy="1417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u="none">
                <a:solidFill>
                  <a:srgbClr val="B3372F"/>
                </a:solidFill>
                <a:latin typeface="Arial"/>
              </a:rPr>
              <a:t>17 of 22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u="none">
                <a:solidFill>
                  <a:srgbClr val="1B1A17"/>
                </a:solidFill>
                <a:latin typeface="Arial"/>
              </a:rPr>
              <a:t>honey samples tested were adulterated with sugar syrup (77%)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u="none">
                <a:solidFill>
                  <a:srgbClr val="595959"/>
                </a:solidFill>
                <a:latin typeface="Arial"/>
              </a:rPr>
              <a:t>CSE investigation, Dec 2020</a:t>
            </a:r>
          </a:p>
        </p:txBody>
      </p:sp>
      <p:sp>
        <p:nvSpPr>
          <p:cNvPr id="17429" name="Rectangle 17428"/>
          <p:cNvSpPr/>
          <p:nvPr/>
        </p:nvSpPr>
        <p:spPr>
          <a:xfrm>
            <a:off x="7863840" y="3154680"/>
            <a:ext cx="82296" cy="13716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TextBox 17429"/>
          <p:cNvSpPr txBox="1"/>
          <p:nvPr/>
        </p:nvSpPr>
        <p:spPr>
          <a:xfrm>
            <a:off x="8028431" y="3136392"/>
            <a:ext cx="3794760" cy="1417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u="none">
                <a:solidFill>
                  <a:srgbClr val="2E7D4F"/>
                </a:solidFill>
                <a:latin typeface="Arial"/>
              </a:rPr>
              <a:t>1.4 lakh MT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u="none">
                <a:solidFill>
                  <a:srgbClr val="1B1A17"/>
                </a:solidFill>
                <a:latin typeface="Arial"/>
              </a:rPr>
              <a:t>natural honey produced in India in 2024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u="none">
                <a:solidFill>
                  <a:srgbClr val="595959"/>
                </a:solidFill>
                <a:latin typeface="Arial"/>
              </a:rPr>
              <a:t>PIB - National Beekeeping &amp; Honey Mission</a:t>
            </a:r>
          </a:p>
        </p:txBody>
      </p:sp>
      <p:sp>
        <p:nvSpPr>
          <p:cNvPr id="17431" name="Rectangle 17430"/>
          <p:cNvSpPr/>
          <p:nvPr/>
        </p:nvSpPr>
        <p:spPr>
          <a:xfrm>
            <a:off x="7863840" y="4709160"/>
            <a:ext cx="82296" cy="13716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TextBox 17431"/>
          <p:cNvSpPr txBox="1"/>
          <p:nvPr/>
        </p:nvSpPr>
        <p:spPr>
          <a:xfrm>
            <a:off x="8028431" y="4690872"/>
            <a:ext cx="3794760" cy="1417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u="none">
                <a:solidFill>
                  <a:srgbClr val="0070C0"/>
                </a:solidFill>
                <a:latin typeface="Arial"/>
              </a:rPr>
              <a:t>₹500 crore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u="none">
                <a:solidFill>
                  <a:srgbClr val="1B1A17"/>
                </a:solidFill>
                <a:latin typeface="Arial"/>
              </a:rPr>
              <a:t>NBHM outlay, FY 2020-21 to 2025-26 - production is growing, trust must keep pace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u="none">
                <a:solidFill>
                  <a:srgbClr val="595959"/>
                </a:solidFill>
                <a:latin typeface="Arial"/>
              </a:rPr>
              <a:t>PIB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188720"/>
            <a:ext cx="768096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u="none">
                <a:solidFill>
                  <a:srgbClr val="1F497D"/>
                </a:solidFill>
                <a:latin typeface="Arial"/>
              </a:rPr>
              <a:t>❖ </a:t>
            </a:r>
            <a:r>
              <a:rPr sz="1400" b="1" u="sng">
                <a:solidFill>
                  <a:srgbClr val="1F497D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65760" y="1600200"/>
            <a:ext cx="768096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u="none">
                <a:solidFill>
                  <a:srgbClr val="1F497D"/>
                </a:solidFill>
                <a:latin typeface="Arial"/>
              </a:rPr>
              <a:t>1. </a:t>
            </a:r>
            <a:r>
              <a:rPr sz="1150" b="1" u="none">
                <a:solidFill>
                  <a:srgbClr val="1B1A17"/>
                </a:solidFill>
                <a:latin typeface="Arial"/>
              </a:rPr>
              <a:t>CSE, "Laboratory results of honey testing" (Dec 2020) - NMR tests on branded honey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850" b="0" u="none">
                <a:solidFill>
                  <a:srgbClr val="0070C0"/>
                </a:solidFill>
                <a:latin typeface="Arial"/>
              </a:rPr>
              <a:t>cdn.downtoearth.org.in/report_laboratory_results_of_honey_testing_20201201.pdf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u="none">
                <a:solidFill>
                  <a:srgbClr val="1F497D"/>
                </a:solidFill>
                <a:latin typeface="Arial"/>
              </a:rPr>
              <a:t>2. </a:t>
            </a:r>
            <a:r>
              <a:rPr sz="1150" b="1" u="none">
                <a:solidFill>
                  <a:srgbClr val="1B1A17"/>
                </a:solidFill>
                <a:latin typeface="Arial"/>
              </a:rPr>
              <a:t>FSSAI press release reviewing the CSE honey-sample issue (3 Dec 2020)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850" b="0" u="none">
                <a:solidFill>
                  <a:srgbClr val="0070C0"/>
                </a:solidFill>
                <a:latin typeface="Arial"/>
              </a:rPr>
              <a:t>fssai.gov.in/upload/press_release/2020/12/5fc8eb6d70965Press_Release_Honey_Sample_03_12_2020.pdf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u="none">
                <a:solidFill>
                  <a:srgbClr val="1F497D"/>
                </a:solidFill>
                <a:latin typeface="Arial"/>
              </a:rPr>
              <a:t>3. </a:t>
            </a:r>
            <a:r>
              <a:rPr sz="1150" b="1" u="none">
                <a:solidFill>
                  <a:srgbClr val="1B1A17"/>
                </a:solidFill>
                <a:latin typeface="Arial"/>
              </a:rPr>
              <a:t>PIB, "National Beekeeping &amp; Honey Mission" - budget, production and export data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850" b="0" u="none">
                <a:solidFill>
                  <a:srgbClr val="0070C0"/>
                </a:solidFill>
                <a:latin typeface="Arial"/>
              </a:rPr>
              <a:t>pib.gov.in/PressReleasePage.aspx?PRID=2185400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u="none">
                <a:solidFill>
                  <a:srgbClr val="1F497D"/>
                </a:solidFill>
                <a:latin typeface="Arial"/>
              </a:rPr>
              <a:t>4. </a:t>
            </a:r>
            <a:r>
              <a:rPr sz="1150" b="1" u="none">
                <a:solidFill>
                  <a:srgbClr val="1B1A17"/>
                </a:solidFill>
                <a:latin typeface="Arial"/>
              </a:rPr>
              <a:t>National Bee Board - NBHM portal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850" b="0" u="none">
                <a:solidFill>
                  <a:srgbClr val="0070C0"/>
                </a:solidFill>
                <a:latin typeface="Arial"/>
              </a:rPr>
              <a:t>nbb.gov.in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u="none">
                <a:solidFill>
                  <a:srgbClr val="1F497D"/>
                </a:solidFill>
                <a:latin typeface="Arial"/>
              </a:rPr>
              <a:t>5. </a:t>
            </a:r>
            <a:r>
              <a:rPr sz="1150" b="1" u="none">
                <a:solidFill>
                  <a:srgbClr val="1B1A17"/>
                </a:solidFill>
                <a:latin typeface="Arial"/>
              </a:rPr>
              <a:t>The Tribune, "Honeytrap" - syrups designed to bypass purity tests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850" b="0" u="none">
                <a:solidFill>
                  <a:srgbClr val="0070C0"/>
                </a:solidFill>
                <a:latin typeface="Arial"/>
              </a:rPr>
              <a:t>tribuneindia.com/news/nation/honeytrap-cse-investigations-claim-nefarious-adulteration-business-of-honey-designed-to-bypass-purity-tests-178930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u="none">
                <a:solidFill>
                  <a:srgbClr val="1F497D"/>
                </a:solidFill>
                <a:latin typeface="Arial"/>
              </a:rPr>
              <a:t>6. </a:t>
            </a:r>
            <a:r>
              <a:rPr sz="1150" b="1" u="none">
                <a:solidFill>
                  <a:srgbClr val="1B1A17"/>
                </a:solidFill>
                <a:latin typeface="Arial"/>
              </a:rPr>
              <a:t>Business Standard - FSSAI on the SMR (rice-syrup marker) test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850" b="0" u="none">
                <a:solidFill>
                  <a:srgbClr val="0070C0"/>
                </a:solidFill>
                <a:latin typeface="Arial"/>
              </a:rPr>
              <a:t>business-standard.com/article/companies/fssai-questions-cse-for-not-conducting-smr-test-on-honey-brands-120120301199_1.html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65760" y="5120640"/>
            <a:ext cx="7680960" cy="1143000"/>
          </a:xfrm>
          <a:prstGeom prst="rect">
            <a:avLst/>
          </a:prstGeom>
          <a:solidFill>
            <a:srgbClr val="F3F6FB"/>
          </a:solidFill>
        </p:spPr>
        <p:txBody>
          <a:bodyPr wrap="square" anchor="t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u="none">
                <a:solidFill>
                  <a:srgbClr val="1F497D"/>
                </a:solidFill>
                <a:latin typeface="Arial"/>
              </a:rPr>
              <a:t>Research takeaways applied in the design</a:t>
            </a:r>
          </a:p>
          <a:p>
            <a:pPr algn="l" marL="155448" indent="-155448">
              <a:spcBef>
                <a:spcPts val="0"/>
              </a:spcBef>
              <a:spcAft>
                <a:spcPts val="200"/>
              </a:spcAft>
              <a:buClr>
                <a:srgbClr val="E9A23B"/>
              </a:buClr>
              <a:buChar char="•"/>
            </a:pPr>
            <a:r>
              <a:rPr sz="1050" b="0" u="none">
                <a:solidFill>
                  <a:srgbClr val="1B1A17"/>
                </a:solidFill>
                <a:latin typeface="Arial"/>
              </a:rPr>
              <a:t>Engineered syrups can pass C4/HMF but fail NMR → the ledger is lab-agnostic and also anchors NMR + SMR results</a:t>
            </a:r>
          </a:p>
          <a:p>
            <a:pPr algn="l" marL="155448" indent="-155448">
              <a:spcBef>
                <a:spcPts val="0"/>
              </a:spcBef>
              <a:spcAft>
                <a:spcPts val="200"/>
              </a:spcAft>
              <a:buClr>
                <a:srgbClr val="E9A23B"/>
              </a:buClr>
              <a:buChar char="•"/>
            </a:pPr>
            <a:r>
              <a:rPr sz="1050" b="0" u="none">
                <a:solidFill>
                  <a:srgbClr val="1B1A17"/>
                </a:solidFill>
                <a:latin typeface="Arial"/>
              </a:rPr>
              <a:t>Domestic honey testing lacks a single verifiable trail → tamper-evident batch records and a public trust score</a:t>
            </a:r>
          </a:p>
          <a:p>
            <a:pPr algn="l" marL="155448" indent="-155448">
              <a:spcBef>
                <a:spcPts val="0"/>
              </a:spcBef>
              <a:spcAft>
                <a:spcPts val="300"/>
              </a:spcAft>
              <a:buClr>
                <a:srgbClr val="E9A23B"/>
              </a:buClr>
              <a:buChar char="•"/>
            </a:pPr>
            <a:r>
              <a:rPr sz="1050" b="0" u="none">
                <a:solidFill>
                  <a:srgbClr val="1B1A17"/>
                </a:solidFill>
                <a:latin typeface="Arial"/>
              </a:rPr>
              <a:t>Lab limits in the prototype are indicative (FSSAI/BIS-style); final limits come from the notified lab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8321040" y="1234440"/>
            <a:ext cx="3474720" cy="4983480"/>
          </a:xfrm>
          <a:prstGeom prst="rect">
            <a:avLst/>
          </a:prstGeom>
          <a:noFill/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8412480" y="1298448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 u="none">
                <a:solidFill>
                  <a:srgbClr val="1F497D"/>
                </a:solidFill>
                <a:latin typeface="Arial"/>
              </a:rPr>
              <a:t>TRY THE PROTOTYPE</a:t>
            </a:r>
          </a:p>
        </p:txBody>
      </p:sp>
      <p:pic>
        <p:nvPicPr>
          <p:cNvPr id="17415" name="Picture 17414" descr="qr-dem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1080" y="1691640"/>
            <a:ext cx="1371600" cy="1371600"/>
          </a:xfrm>
          <a:prstGeom prst="rect">
            <a:avLst/>
          </a:prstGeom>
        </p:spPr>
      </p:pic>
      <p:pic>
        <p:nvPicPr>
          <p:cNvPr id="17416" name="Picture 17415" descr="qr-re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4120" y="1691640"/>
            <a:ext cx="1371600" cy="1371600"/>
          </a:xfrm>
          <a:prstGeom prst="rect">
            <a:avLst/>
          </a:prstGeom>
        </p:spPr>
      </p:pic>
      <p:sp>
        <p:nvSpPr>
          <p:cNvPr id="17417" name="TextBox 17416"/>
          <p:cNvSpPr txBox="1"/>
          <p:nvPr/>
        </p:nvSpPr>
        <p:spPr>
          <a:xfrm>
            <a:off x="8412480" y="3108960"/>
            <a:ext cx="17373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u="none">
                <a:solidFill>
                  <a:srgbClr val="1B1A17"/>
                </a:solidFill>
                <a:latin typeface="Arial"/>
              </a:rPr>
              <a:t>Live demo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750" b="0" u="none">
                <a:solidFill>
                  <a:srgbClr val="0070C0"/>
                </a:solidFill>
                <a:latin typeface="Arial"/>
              </a:rPr>
              <a:t>suyash2527.github.io/HoneyChain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9966960" y="3108960"/>
            <a:ext cx="17373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u="none">
                <a:solidFill>
                  <a:srgbClr val="1B1A17"/>
                </a:solidFill>
                <a:latin typeface="Arial"/>
              </a:rPr>
              <a:t>Source code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750" b="0" u="none">
                <a:solidFill>
                  <a:srgbClr val="0070C0"/>
                </a:solidFill>
                <a:latin typeface="Arial"/>
              </a:rPr>
              <a:t>github.com/Suyash2527/HoneyChain</a:t>
            </a:r>
          </a:p>
        </p:txBody>
      </p:sp>
      <p:pic>
        <p:nvPicPr>
          <p:cNvPr id="17419" name="Picture 17418" descr="qr-verif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3840480"/>
            <a:ext cx="1097280" cy="1097280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8412480" y="4983480"/>
            <a:ext cx="32918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u="none">
                <a:solidFill>
                  <a:srgbClr val="1B1A17"/>
                </a:solidFill>
                <a:latin typeface="Arial"/>
              </a:rPr>
              <a:t>Scan to verify a genuine sample batch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 u="none">
                <a:solidFill>
                  <a:srgbClr val="595959"/>
                </a:solidFill>
                <a:latin typeface="Arial"/>
              </a:rPr>
              <a:t>React · PWA · SHA-256 PoA ledger · IoT + AI simulation. MIT licensed, open source.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