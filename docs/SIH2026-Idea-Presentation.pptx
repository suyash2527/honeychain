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b="1" sz="1700">
                <a:solidFill>
                  <a:srgbClr val="1F497D"/>
                </a:solidFill>
                <a:latin typeface="Arial"/>
              </a:rPr>
              <a:t>SIH26021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b="1" sz="1400">
                <a:solidFill>
                  <a:srgbClr val="1F497D"/>
                </a:solidFill>
                <a:latin typeface="Arial"/>
              </a:rPr>
              <a:t>Honey Chain: A block chain-based system for honey traceability and smart beekeeping management.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b="1" sz="1700">
                <a:solidFill>
                  <a:srgbClr val="1F497D"/>
                </a:solidFill>
                <a:latin typeface="Arial"/>
              </a:rPr>
              <a:t>Agriculture, FoodTech &amp; Rural Development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b="1" sz="1700">
                <a:solidFill>
                  <a:srgbClr val="1F497D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b="1" sz="1700">
                <a:solidFill>
                  <a:srgbClr val="1F497D"/>
                </a:solidFill>
                <a:latin typeface="Arial"/>
              </a:rPr>
              <a:t>133847</a:t>
            </a:r>
          </a:p>
          <a:p>
            <a:pPr marL="285750" indent="-285750" algn="l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</a:t>
            </a:r>
            <a:r>
              <a:rPr b="1" sz="1700">
                <a:solidFill>
                  <a:srgbClr val="1F497D"/>
                </a:solidFill>
                <a:latin typeface="Arial"/>
              </a:rPr>
              <a:t>CodeVerse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19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HONEY CHAIN: Blockchain Honey Traceability + AI-IoT Smart Beekeeping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CodeVerse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20040" y="1143000"/>
            <a:ext cx="69494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u="none" i="0">
                <a:solidFill>
                  <a:srgbClr val="1F497D"/>
                </a:solidFill>
                <a:latin typeface="Arial"/>
              </a:rPr>
              <a:t>❖ </a:t>
            </a:r>
            <a:r>
              <a:rPr sz="1400" b="1" u="sng" i="0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20040" y="1490472"/>
            <a:ext cx="694944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u="none" i="0">
                <a:solidFill>
                  <a:srgbClr val="1F497D"/>
                </a:solidFill>
                <a:latin typeface="Arial"/>
              </a:rPr>
              <a:t>Honey Chain </a:t>
            </a:r>
            <a:r>
              <a:rPr sz="1050" b="0" u="none" i="0">
                <a:solidFill>
                  <a:srgbClr val="000000"/>
                </a:solidFill>
                <a:latin typeface="Arial"/>
              </a:rPr>
              <a:t>gives every hive, harvest batch and jar a tamper-proof digital identity on a permissioned blockchain. Consumers verify authenticity by scanning a QR code; IoT + AI keep colonies healthy and productive.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20040" y="2057400"/>
            <a:ext cx="69494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 i="0">
                <a:solidFill>
                  <a:srgbClr val="1F497D"/>
                </a:solidFill>
                <a:latin typeface="Arial"/>
              </a:rPr>
              <a:t>• Detailed explanation of the proposed solution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20040" y="2331720"/>
            <a:ext cx="6949440" cy="2514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8288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1000" b="1" u="none" i="0">
                <a:solidFill>
                  <a:srgbClr val="1F497D"/>
                </a:solidFill>
                <a:latin typeface="Arial"/>
              </a:rPr>
              <a:t>1. </a:t>
            </a:r>
            <a:r>
              <a:rPr sz="1000" b="1" u="none" i="0">
                <a:solidFill>
                  <a:srgbClr val="000000"/>
                </a:solidFill>
                <a:latin typeface="Arial"/>
              </a:rPr>
              <a:t>Register – </a:t>
            </a:r>
            <a:r>
              <a:rPr sz="1000" b="0" u="none" i="0">
                <a:solidFill>
                  <a:srgbClr val="000000"/>
                </a:solidFill>
                <a:latin typeface="Arial"/>
              </a:rPr>
              <a:t>each KVIC bee box gets a Hive ID (owner, village, GPS, cluster, flora) written to the ledger.</a:t>
            </a:r>
          </a:p>
          <a:p>
            <a:pPr algn="l" marL="182880" indent="-18288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1000" b="1" u="none" i="0">
                <a:solidFill>
                  <a:srgbClr val="1F497D"/>
                </a:solidFill>
                <a:latin typeface="Arial"/>
              </a:rPr>
              <a:t>2. </a:t>
            </a:r>
            <a:r>
              <a:rPr sz="1000" b="1" u="none" i="0">
                <a:solidFill>
                  <a:srgbClr val="000000"/>
                </a:solidFill>
                <a:latin typeface="Arial"/>
              </a:rPr>
              <a:t>Sense – </a:t>
            </a:r>
            <a:r>
              <a:rPr sz="1000" b="0" u="none" i="0">
                <a:solidFill>
                  <a:srgbClr val="000000"/>
                </a:solidFill>
                <a:latin typeface="Arial"/>
              </a:rPr>
              <a:t>ESP32 hive node streams weight, brood temperature, humidity, colony sound, CO₂ and entrance activity; edge AI diagnoses varroa, foulbrood, queenless, pre-swarm and starvation and forecasts 30-day yield.</a:t>
            </a:r>
          </a:p>
          <a:p>
            <a:pPr algn="l" marL="182880" indent="-18288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1000" b="1" u="none" i="0">
                <a:solidFill>
                  <a:srgbClr val="1F497D"/>
                </a:solidFill>
                <a:latin typeface="Arial"/>
              </a:rPr>
              <a:t>3. </a:t>
            </a:r>
            <a:r>
              <a:rPr sz="1000" b="1" u="none" i="0">
                <a:solidFill>
                  <a:srgbClr val="000000"/>
                </a:solidFill>
                <a:latin typeface="Arial"/>
              </a:rPr>
              <a:t>Anchor – </a:t>
            </a:r>
            <a:r>
              <a:rPr sz="1000" b="0" u="none" i="0">
                <a:solidFill>
                  <a:srgbClr val="000000"/>
                </a:solidFill>
                <a:latin typeface="Arial"/>
              </a:rPr>
              <a:t>14-day telemetry is hashed into a Merkle root and sealed on-chain; raw data stays local, so a 2G link is enough.</a:t>
            </a:r>
          </a:p>
          <a:p>
            <a:pPr algn="l" marL="182880" indent="-18288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1000" b="1" u="none" i="0">
                <a:solidFill>
                  <a:srgbClr val="1F497D"/>
                </a:solidFill>
                <a:latin typeface="Arial"/>
              </a:rPr>
              <a:t>4. </a:t>
            </a:r>
            <a:r>
              <a:rPr sz="1000" b="1" u="none" i="0">
                <a:solidFill>
                  <a:srgbClr val="000000"/>
                </a:solidFill>
                <a:latin typeface="Arial"/>
              </a:rPr>
              <a:t>Harvest – </a:t>
            </a:r>
            <a:r>
              <a:rPr sz="1000" b="0" u="none" i="0">
                <a:solidFill>
                  <a:srgbClr val="000000"/>
                </a:solidFill>
                <a:latin typeface="Arial"/>
              </a:rPr>
              <a:t>beekeeper picks hives, enters kg + flora → batch ID + printable QR; yield-per-hive plausibility is checked automatically.</a:t>
            </a:r>
          </a:p>
          <a:p>
            <a:pPr algn="l" marL="182880" indent="-18288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1000" b="1" u="none" i="0">
                <a:solidFill>
                  <a:srgbClr val="1F497D"/>
                </a:solidFill>
                <a:latin typeface="Arial"/>
              </a:rPr>
              <a:t>5. </a:t>
            </a:r>
            <a:r>
              <a:rPr sz="1000" b="1" u="none" i="0">
                <a:solidFill>
                  <a:srgbClr val="000000"/>
                </a:solidFill>
                <a:latin typeface="Arial"/>
              </a:rPr>
              <a:t>Certify – </a:t>
            </a:r>
            <a:r>
              <a:rPr sz="1000" b="0" u="none" i="0">
                <a:solidFill>
                  <a:srgbClr val="000000"/>
                </a:solidFill>
                <a:latin typeface="Arial"/>
              </a:rPr>
              <a:t>NABL lab records moisture, HMF, sucrose, reducing sugars, ash, C4 sugar, NMR profile and rice-syrup marker (SMR); pass/fail is computed from limits and cannot be edited.</a:t>
            </a:r>
          </a:p>
          <a:p>
            <a:pPr algn="l" marL="182880" indent="-18288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1000" b="1" u="none" i="0">
                <a:solidFill>
                  <a:srgbClr val="1F497D"/>
                </a:solidFill>
                <a:latin typeface="Arial"/>
              </a:rPr>
              <a:t>6. </a:t>
            </a:r>
            <a:r>
              <a:rPr sz="1000" b="1" u="none" i="0">
                <a:solidFill>
                  <a:srgbClr val="000000"/>
                </a:solidFill>
                <a:latin typeface="Arial"/>
              </a:rPr>
              <a:t>Move – </a:t>
            </a:r>
            <a:r>
              <a:rPr sz="1000" b="0" u="none" i="0">
                <a:solidFill>
                  <a:srgbClr val="000000"/>
                </a:solidFill>
                <a:latin typeface="Arial"/>
              </a:rPr>
              <a:t>processor / distributor / retailer handovers and retail packing are logged; every write prints a signed receipt.</a:t>
            </a:r>
          </a:p>
          <a:p>
            <a:pPr algn="l" marL="182880" indent="-18288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1000" b="1" u="none" i="0">
                <a:solidFill>
                  <a:srgbClr val="1F497D"/>
                </a:solidFill>
                <a:latin typeface="Arial"/>
              </a:rPr>
              <a:t>7. </a:t>
            </a:r>
            <a:r>
              <a:rPr sz="1000" b="1" u="none" i="0">
                <a:solidFill>
                  <a:srgbClr val="000000"/>
                </a:solidFill>
                <a:latin typeface="Arial"/>
              </a:rPr>
              <a:t>Verify – </a:t>
            </a:r>
            <a:r>
              <a:rPr sz="1000" b="0" u="none" i="0">
                <a:solidFill>
                  <a:srgbClr val="000000"/>
                </a:solidFill>
                <a:latin typeface="Arial"/>
              </a:rPr>
              <a:t>consumer scans the QR → trust score 0-100, origin, lab table, journey and validator signatures; forged codes return "no such batch".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320040" y="4846320"/>
            <a:ext cx="69494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 i="0">
                <a:solidFill>
                  <a:srgbClr val="1F497D"/>
                </a:solidFill>
                <a:latin typeface="Arial"/>
              </a:rPr>
              <a:t>• Innovation and uniqueness of the solution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320040" y="5120640"/>
            <a:ext cx="694944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u="none" i="0">
                <a:solidFill>
                  <a:srgbClr val="000000"/>
                </a:solidFill>
                <a:latin typeface="Arial"/>
              </a:rPr>
              <a:t>Lab-agnostic trust layer: anchors NMR, SMR, C4 and HMF results, so syrups engineered to pass basic tests are still rejected (CSE 2020)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u="none" i="0">
                <a:solidFill>
                  <a:srgbClr val="000000"/>
                </a:solidFill>
                <a:latin typeface="Arial"/>
              </a:rPr>
              <a:t>Yield plausibility: claimed kg vs hive-weight telemetry exposes blending ("95 kg from 1 hive" is flagged)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u="none" i="0">
                <a:solidFill>
                  <a:srgbClr val="000000"/>
                </a:solidFill>
                <a:latin typeface="Arial"/>
              </a:rPr>
              <a:t>Telemetry anchored by Merkle root: auditable claims with minimal bandwidth and cost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u="none" i="0">
                <a:solidFill>
                  <a:srgbClr val="000000"/>
                </a:solidFill>
                <a:latin typeface="Arial"/>
              </a:rPr>
              <a:t>Permissioned PoA (KVIC / FSSAI / lab validators): no mining, no gas, accountable writers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u="none" i="0">
                <a:solidFill>
                  <a:srgbClr val="000000"/>
                </a:solidFill>
                <a:latin typeface="Arial"/>
              </a:rPr>
              <a:t>Explainable AI with advice in English + Hindi; offline-first installable PWA built for villages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7452360" y="1143000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 i="0">
                <a:solidFill>
                  <a:srgbClr val="1F497D"/>
                </a:solidFill>
                <a:latin typeface="Arial"/>
              </a:rPr>
              <a:t>• How it addresses the problem</a:t>
            </a:r>
          </a:p>
        </p:txBody>
      </p:sp>
      <p:graphicFrame>
        <p:nvGraphicFramePr>
          <p:cNvPr id="15369" name="Table 15368"/>
          <p:cNvGraphicFramePr>
            <a:graphicFrameLocks noGrp="1"/>
          </p:cNvGraphicFramePr>
          <p:nvPr/>
        </p:nvGraphicFramePr>
        <p:xfrm>
          <a:off x="7452360" y="1463040"/>
          <a:ext cx="4389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1546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 u="none" i="0">
                          <a:solidFill>
                            <a:srgbClr val="FFFFFF"/>
                          </a:solidFill>
                          <a:latin typeface="Arial"/>
                        </a:rPr>
                        <a:t>Problem (PS SIH26021)</a:t>
                      </a:r>
                    </a:p>
                  </a:txBody>
                  <a:tcPr marL="45720" marR="45720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u="none" i="0">
                          <a:solidFill>
                            <a:srgbClr val="FFFFFF"/>
                          </a:solidFill>
                          <a:latin typeface="Arial"/>
                        </a:rPr>
                        <a:t>Honey Chain answer</a:t>
                      </a:r>
                    </a:p>
                  </a:txBody>
                  <a:tcPr marL="45720" marR="45720" marT="18288" marB="18288" anchor="ctr"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1F497D"/>
                          </a:solidFill>
                          <a:latin typeface="Arial"/>
                        </a:rPr>
                        <a:t>Counterfeit honey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u="none" i="0">
                          <a:solidFill>
                            <a:srgbClr val="000000"/>
                          </a:solidFill>
                          <a:latin typeface="Arial"/>
                        </a:rPr>
                        <a:t>Lab results incl. NMR/SMR sealed per batch; failures are permanent; QR verifies each jar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1F497D"/>
                          </a:solidFill>
                          <a:latin typeface="Arial"/>
                        </a:rPr>
                        <a:t>Low consumer trust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u="none" i="0">
                          <a:solidFill>
                            <a:srgbClr val="000000"/>
                          </a:solidFill>
                          <a:latin typeface="Arial"/>
                        </a:rPr>
                        <a:t>Scan-to-verify trust score, origin and journey read from the ledger, not from the seller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1F497D"/>
                          </a:solidFill>
                          <a:latin typeface="Arial"/>
                        </a:rPr>
                        <a:t>Weak market linkage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u="none" i="0">
                          <a:solidFill>
                            <a:srgbClr val="000000"/>
                          </a:solidFill>
                          <a:latin typeface="Arial"/>
                        </a:rPr>
                        <a:t>Verified batches + custody trail support premium pricing and direct/retail buyers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1F497D"/>
                          </a:solidFill>
                          <a:latin typeface="Arial"/>
                        </a:rPr>
                        <a:t>No traceability or hive-management support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u="none" i="0">
                          <a:solidFill>
                            <a:srgbClr val="000000"/>
                          </a:solidFill>
                          <a:latin typeface="Arial"/>
                        </a:rPr>
                        <a:t>Hive → harvest → jar trail; IoT-AI alerts, advice and yield forecast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5370" name="TextBox 15369"/>
          <p:cNvSpPr txBox="1"/>
          <p:nvPr/>
        </p:nvSpPr>
        <p:spPr>
          <a:xfrm>
            <a:off x="7452360" y="3703320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 i="0">
                <a:solidFill>
                  <a:srgbClr val="1F497D"/>
                </a:solidFill>
                <a:latin typeface="Arial"/>
              </a:rPr>
              <a:t>• Expected solution coverage (per problem statement)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7452360" y="3977639"/>
            <a:ext cx="43891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u="none" i="0">
                <a:solidFill>
                  <a:srgbClr val="2E8B57"/>
                </a:solidFill>
                <a:latin typeface="Arial"/>
              </a:rPr>
              <a:t>✔ </a:t>
            </a:r>
            <a:r>
              <a:rPr sz="1000" b="1" u="none" i="0">
                <a:solidFill>
                  <a:srgbClr val="000000"/>
                </a:solidFill>
                <a:latin typeface="Arial"/>
              </a:rPr>
              <a:t>Blockchain prototype + QR consumer authentication </a:t>
            </a:r>
            <a:r>
              <a:rPr sz="1000" b="0" u="none" i="0">
                <a:solidFill>
                  <a:srgbClr val="000000"/>
                </a:solidFill>
                <a:latin typeface="Arial"/>
              </a:rPr>
              <a:t>– built and live</a:t>
            </a:r>
          </a:p>
          <a:p>
            <a:pPr algn="l" marL="18288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u="none" i="0">
                <a:solidFill>
                  <a:srgbClr val="2E8B57"/>
                </a:solidFill>
                <a:latin typeface="Arial"/>
              </a:rPr>
              <a:t>✔ </a:t>
            </a:r>
            <a:r>
              <a:rPr sz="1000" b="1" u="none" i="0">
                <a:solidFill>
                  <a:srgbClr val="000000"/>
                </a:solidFill>
                <a:latin typeface="Arial"/>
              </a:rPr>
              <a:t>IoT hive monitoring + AI analytics </a:t>
            </a:r>
            <a:r>
              <a:rPr sz="1000" b="0" u="none" i="0">
                <a:solidFill>
                  <a:srgbClr val="000000"/>
                </a:solidFill>
                <a:latin typeface="Arial"/>
              </a:rPr>
              <a:t>– built (simulated sensors, explainable model)</a:t>
            </a:r>
          </a:p>
          <a:p>
            <a:pPr algn="l" marL="18288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u="none" i="0">
                <a:solidFill>
                  <a:srgbClr val="2E8B57"/>
                </a:solidFill>
                <a:latin typeface="Arial"/>
              </a:rPr>
              <a:t>✔ </a:t>
            </a:r>
            <a:r>
              <a:rPr sz="1000" b="1" u="none" i="0">
                <a:solidFill>
                  <a:srgbClr val="000000"/>
                </a:solidFill>
                <a:latin typeface="Arial"/>
              </a:rPr>
              <a:t>Scalable KVIC deployment framework </a:t>
            </a:r>
            <a:r>
              <a:rPr sz="1000" b="0" u="none" i="0">
                <a:solidFill>
                  <a:srgbClr val="000000"/>
                </a:solidFill>
                <a:latin typeface="Arial"/>
              </a:rPr>
              <a:t>– phased plan, costs, risks (slide 4)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7452360" y="5029200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 i="0">
                <a:solidFill>
                  <a:srgbClr val="1F497D"/>
                </a:solidFill>
                <a:latin typeface="Arial"/>
              </a:rPr>
              <a:t>• Trust score shown to the buyer (0-100)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7452360" y="5303520"/>
            <a:ext cx="4389120" cy="100584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73152" rIns="73152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u="none" i="0">
                <a:solidFill>
                  <a:srgbClr val="000000"/>
                </a:solidFill>
                <a:latin typeface="Arial"/>
              </a:rPr>
              <a:t>+25 hives registered · +15 harvest logged · +40 lab PASS · +10 telemetry anchored · +10 custody / retail trail · −20 implausible yield per hive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u="none" i="0">
                <a:solidFill>
                  <a:srgbClr val="595959"/>
                </a:solidFill>
                <a:latin typeface="Arial"/>
              </a:rPr>
              <a:t>Lab FAIL or score &lt; 50 → REJECT.  Unknown / forged QR → "no such batch".  Ledger integrity is re-checked on every 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CodeVerse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143000"/>
            <a:ext cx="7498079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u="none" i="0">
                <a:solidFill>
                  <a:srgbClr val="1F497D"/>
                </a:solidFill>
                <a:latin typeface="Arial"/>
              </a:rPr>
              <a:t>❖ </a:t>
            </a:r>
            <a:r>
              <a:rPr sz="1300" b="1" u="sng" i="0">
                <a:solidFill>
                  <a:srgbClr val="1F497D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320040" y="1481328"/>
          <a:ext cx="758951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977639"/>
                <a:gridCol w="25603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45720" marR="45720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FFFFFF"/>
                          </a:solidFill>
                          <a:latin typeface="Arial"/>
                        </a:rPr>
                        <a:t>Technologies</a:t>
                      </a:r>
                    </a:p>
                  </a:txBody>
                  <a:tcPr marL="45720" marR="45720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45720" marR="45720" marT="18288" marB="18288" anchor="ctr">
                    <a:solidFill>
                      <a:srgbClr val="1F497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React 18, Vite, JavaScript; installable offline-first PWA (service worker); html5-qrcode; EN / हिन्दी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Consumer, beekeeper, lab, supply-chain and officer portals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Ledger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SHA-256 hash-chain (Web Crypto); Proof-of-Authority round-robin validators; Merkle trees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Tamper-evidence; integrity check on every load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Smart contract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Solidity 0.8 (roles, batch, certify, custody) → Hyperledger Besu / Fabric-class network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Production ledger; a lab FAIL is final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IoT hardware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ESP32, HX711 + load cell, DS18B20, DHT22, MEMS mic (I²S), CO₂ sensor, LoRa, solar + Li-ion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15-min readings; 1 gateway per 20-40 hives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AI / analytics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Feature model: brood-temp variance, sound shift, weight slope, activity drop, CO₂ → softmax; CNN (TFLite Micro)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5 conditions + healthy; 30-day yield forecast (80% range)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On-chain: hashes only. Off-chain: time-series store; IPFS for lab PDFs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Privacy, low cost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DevOps / security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GitHub Actions CI; Pages / Vercel / Docker + nginx; HTTPS; role-based keys (Ed25519 planned)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Repeatable, secure deployment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2" name="Rectangle 17411"/>
          <p:cNvSpPr/>
          <p:nvPr/>
        </p:nvSpPr>
        <p:spPr>
          <a:xfrm>
            <a:off x="8092440" y="1170432"/>
            <a:ext cx="3749039" cy="274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 u="none" i="0">
                <a:solidFill>
                  <a:srgbClr val="FFFFFF"/>
                </a:solidFill>
                <a:latin typeface="Arial"/>
              </a:rPr>
              <a:t>How we use AI (beyond the blockchain)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092440" y="1444752"/>
            <a:ext cx="3749039" cy="1298448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u="none" i="0">
                <a:solidFill>
                  <a:srgbClr val="2E8B57"/>
                </a:solidFill>
                <a:latin typeface="Arial"/>
              </a:rPr>
              <a:t>[Built] </a:t>
            </a:r>
            <a:r>
              <a:rPr sz="860" b="0" u="none" i="0">
                <a:solidFill>
                  <a:srgbClr val="000000"/>
                </a:solidFill>
                <a:latin typeface="Arial"/>
              </a:rPr>
              <a:t>Hive-health model: sensor features → varroa, foulbrood, queenless, pre-swarm, starvation (24/24 on simulated tests)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u="none" i="0">
                <a:solidFill>
                  <a:srgbClr val="2E8B57"/>
                </a:solidFill>
                <a:latin typeface="Arial"/>
              </a:rPr>
              <a:t>[Built] </a:t>
            </a:r>
            <a:r>
              <a:rPr sz="860" b="0" u="none" i="0">
                <a:solidFill>
                  <a:srgbClr val="000000"/>
                </a:solidFill>
                <a:latin typeface="Arial"/>
              </a:rPr>
              <a:t>30-day yield forecast (80% range) + fraud flag when claimed kg per hive exceeds what hive data supports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u="none" i="0">
                <a:solidFill>
                  <a:srgbClr val="E98B1D"/>
                </a:solidFill>
                <a:latin typeface="Arial"/>
              </a:rPr>
              <a:t>[Plan] </a:t>
            </a:r>
            <a:r>
              <a:rPr sz="860" b="0" u="none" i="0">
                <a:solidFill>
                  <a:srgbClr val="000000"/>
                </a:solidFill>
                <a:latin typeface="Arial"/>
              </a:rPr>
              <a:t>CNN on hive audio via TFLite Micro, trained on open datasets (refs 8, 9); advice shown with confidence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u="none" i="0">
                <a:solidFill>
                  <a:srgbClr val="E98B1D"/>
                </a:solidFill>
                <a:latin typeface="Arial"/>
              </a:rPr>
              <a:t>[Plan] </a:t>
            </a:r>
            <a:r>
              <a:rPr sz="860" b="0" u="none" i="0">
                <a:solidFill>
                  <a:srgbClr val="000000"/>
                </a:solidFill>
                <a:latin typeface="Arial"/>
              </a:rPr>
              <a:t>Comb-photo disease check on the phone; Hindi voice entry and advice for low-literacy users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8092440" y="2770632"/>
            <a:ext cx="3749039" cy="274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 u="none" i="0">
                <a:solidFill>
                  <a:srgbClr val="FFFFFF"/>
                </a:solidFill>
                <a:latin typeface="Arial"/>
              </a:rPr>
              <a:t>How we use Cloud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092440" y="3044952"/>
            <a:ext cx="3749039" cy="1042415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u="none" i="0">
                <a:solidFill>
                  <a:srgbClr val="2E8B57"/>
                </a:solidFill>
                <a:latin typeface="Arial"/>
              </a:rPr>
              <a:t>[Today] </a:t>
            </a:r>
            <a:r>
              <a:rPr sz="860" b="0" u="none" i="0">
                <a:solidFill>
                  <a:srgbClr val="000000"/>
                </a:solidFill>
                <a:latin typeface="Arial"/>
              </a:rPr>
              <a:t>PWA served from a CDN (GitHub Pages / Vercel); CI/CD with GitHub Actions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u="none" i="0">
                <a:solidFill>
                  <a:srgbClr val="E98B1D"/>
                </a:solidFill>
                <a:latin typeface="Arial"/>
              </a:rPr>
              <a:t>[Plan] </a:t>
            </a:r>
            <a:r>
              <a:rPr sz="860" b="0" u="none" i="0">
                <a:solidFill>
                  <a:srgbClr val="000000"/>
                </a:solidFill>
                <a:latin typeface="Arial"/>
              </a:rPr>
              <a:t>LoRaWAN → MQTT broker → time-series DB; Merkle root anchored on-chain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u="none" i="0">
                <a:solidFill>
                  <a:srgbClr val="E98B1D"/>
                </a:solidFill>
                <a:latin typeface="Arial"/>
              </a:rPr>
              <a:t>[Plan] </a:t>
            </a:r>
            <a:r>
              <a:rPr sz="860" b="0" u="none" i="0">
                <a:solidFill>
                  <a:srgbClr val="000000"/>
                </a:solidFill>
                <a:latin typeface="Arial"/>
              </a:rPr>
              <a:t>Validator nodes + indexer as containers on MeitY-empanelled / GI Cloud; KMS/HSM keys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u="none" i="0">
                <a:solidFill>
                  <a:srgbClr val="E98B1D"/>
                </a:solidFill>
                <a:latin typeface="Arial"/>
              </a:rPr>
              <a:t>[Plan] </a:t>
            </a:r>
            <a:r>
              <a:rPr sz="860" b="0" u="none" i="0">
                <a:solidFill>
                  <a:srgbClr val="000000"/>
                </a:solidFill>
                <a:latin typeface="Arial"/>
              </a:rPr>
              <a:t>Cloud GPU training, OTA model updates, drift monitoring; object storage + IPFS; retailer API; SMS / WhatsApp alerts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20040" y="4114800"/>
            <a:ext cx="115214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u="none" i="0">
                <a:solidFill>
                  <a:srgbClr val="1F497D"/>
                </a:solidFill>
                <a:latin typeface="Arial"/>
              </a:rPr>
              <a:t>❖ </a:t>
            </a:r>
            <a:r>
              <a:rPr sz="1300" b="1" u="sng" i="0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7" name="Pentagon 17416"/>
          <p:cNvSpPr/>
          <p:nvPr/>
        </p:nvSpPr>
        <p:spPr>
          <a:xfrm>
            <a:off x="320040" y="4443984"/>
            <a:ext cx="1828800" cy="384048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u="none" i="0">
                <a:solidFill>
                  <a:srgbClr val="FFFFFF"/>
                </a:solidFill>
                <a:latin typeface="Arial"/>
              </a:rPr>
              <a:t>1 Register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20040" y="4846320"/>
            <a:ext cx="1828800" cy="105156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45720" rIns="45720" tIns="27432" bIns="27432">
            <a:spAutoFit/>
          </a:bodyPr>
          <a:lstStyle/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Hive ID: owner, GPS, cluster, flora</a:t>
            </a:r>
          </a:p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Block HIVE_REGISTERED</a:t>
            </a:r>
          </a:p>
        </p:txBody>
      </p:sp>
      <p:sp>
        <p:nvSpPr>
          <p:cNvPr id="17419" name="Pentagon 17418"/>
          <p:cNvSpPr/>
          <p:nvPr/>
        </p:nvSpPr>
        <p:spPr>
          <a:xfrm>
            <a:off x="2240280" y="4443984"/>
            <a:ext cx="1828800" cy="384048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u="none" i="0">
                <a:solidFill>
                  <a:srgbClr val="FFFFFF"/>
                </a:solidFill>
                <a:latin typeface="Arial"/>
              </a:rPr>
              <a:t>2 Sense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240280" y="4846320"/>
            <a:ext cx="1828800" cy="105156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45720" rIns="45720" tIns="27432" bIns="27432">
            <a:spAutoFit/>
          </a:bodyPr>
          <a:lstStyle/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Node reads sensors every 15 min</a:t>
            </a:r>
          </a:p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Edge AI diagnosis + advice</a:t>
            </a:r>
          </a:p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Merkle root → SENSOR_ATTESTATION</a:t>
            </a:r>
          </a:p>
        </p:txBody>
      </p:sp>
      <p:sp>
        <p:nvSpPr>
          <p:cNvPr id="17421" name="Pentagon 17420"/>
          <p:cNvSpPr/>
          <p:nvPr/>
        </p:nvSpPr>
        <p:spPr>
          <a:xfrm>
            <a:off x="4160520" y="4443984"/>
            <a:ext cx="1828800" cy="384048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u="none" i="0">
                <a:solidFill>
                  <a:srgbClr val="FFFFFF"/>
                </a:solidFill>
                <a:latin typeface="Arial"/>
              </a:rPr>
              <a:t>3 Harvest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160520" y="4846320"/>
            <a:ext cx="1828800" cy="105156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45720" rIns="45720" tIns="27432" bIns="27432">
            <a:spAutoFit/>
          </a:bodyPr>
          <a:lstStyle/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Pick hives, kg, flora</a:t>
            </a:r>
          </a:p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Batch ID HC-YYYY-NNNN + QR</a:t>
            </a:r>
          </a:p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Yield/hive check (&gt; 45 kg flagged)</a:t>
            </a:r>
          </a:p>
        </p:txBody>
      </p:sp>
      <p:sp>
        <p:nvSpPr>
          <p:cNvPr id="17423" name="Pentagon 17422"/>
          <p:cNvSpPr/>
          <p:nvPr/>
        </p:nvSpPr>
        <p:spPr>
          <a:xfrm>
            <a:off x="6080760" y="4443984"/>
            <a:ext cx="1828800" cy="384048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u="none" i="0">
                <a:solidFill>
                  <a:srgbClr val="FFFFFF"/>
                </a:solidFill>
                <a:latin typeface="Arial"/>
              </a:rPr>
              <a:t>4 Certify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080760" y="4846320"/>
            <a:ext cx="1828800" cy="105156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45720" rIns="45720" tIns="27432" bIns="27432">
            <a:spAutoFit/>
          </a:bodyPr>
          <a:lstStyle/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NABL lab enters 8 tests</a:t>
            </a:r>
          </a:p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Auto PASS / FAIL vs limits</a:t>
            </a:r>
          </a:p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LAB_CERTIFIED – immutable</a:t>
            </a:r>
          </a:p>
        </p:txBody>
      </p:sp>
      <p:sp>
        <p:nvSpPr>
          <p:cNvPr id="17425" name="Pentagon 17424"/>
          <p:cNvSpPr/>
          <p:nvPr/>
        </p:nvSpPr>
        <p:spPr>
          <a:xfrm>
            <a:off x="8001000" y="4443984"/>
            <a:ext cx="1828800" cy="384048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u="none" i="0">
                <a:solidFill>
                  <a:srgbClr val="FFFFFF"/>
                </a:solidFill>
                <a:latin typeface="Arial"/>
              </a:rPr>
              <a:t>5 Move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001000" y="4846320"/>
            <a:ext cx="1828800" cy="105156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45720" rIns="45720" tIns="27432" bIns="27432">
            <a:spAutoFit/>
          </a:bodyPr>
          <a:lstStyle/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CUSTODY_TRANSFER, RETAIL_PACKED</a:t>
            </a:r>
          </a:p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Who → whom, bottles, outlet</a:t>
            </a:r>
          </a:p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Signed receipt per write</a:t>
            </a:r>
          </a:p>
        </p:txBody>
      </p:sp>
      <p:sp>
        <p:nvSpPr>
          <p:cNvPr id="17427" name="Pentagon 17426"/>
          <p:cNvSpPr/>
          <p:nvPr/>
        </p:nvSpPr>
        <p:spPr>
          <a:xfrm>
            <a:off x="9921240" y="4443984"/>
            <a:ext cx="1828800" cy="384048"/>
          </a:xfrm>
          <a:prstGeom prst="homePlat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u="none" i="0">
                <a:solidFill>
                  <a:srgbClr val="FFFFFF"/>
                </a:solidFill>
                <a:latin typeface="Arial"/>
              </a:rPr>
              <a:t>6 Verify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9921240" y="4846320"/>
            <a:ext cx="1828800" cy="105156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45720" rIns="45720" tIns="27432" bIns="27432">
            <a:spAutoFit/>
          </a:bodyPr>
          <a:lstStyle/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Scan QR or enter batch ID</a:t>
            </a:r>
          </a:p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Hash + signature re-check</a:t>
            </a:r>
          </a:p>
          <a:p>
            <a:pPr algn="l" marL="109728" indent="-109728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Trust score, journey, verdict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20040" y="5943600"/>
            <a:ext cx="115214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u="none" i="0">
                <a:solidFill>
                  <a:srgbClr val="1F497D"/>
                </a:solidFill>
                <a:latin typeface="Arial"/>
              </a:rPr>
              <a:t>Design rule: </a:t>
            </a:r>
            <a:r>
              <a:rPr sz="900" b="0" u="none" i="0">
                <a:solidFill>
                  <a:srgbClr val="000000"/>
                </a:solidFill>
                <a:latin typeface="Arial"/>
              </a:rPr>
              <a:t>only hashes and attestations go on-chain; raw sensor data stays local and is proven later via the Merkle root.  </a:t>
            </a:r>
            <a:r>
              <a:rPr sz="900" b="1" u="none" i="0">
                <a:solidFill>
                  <a:srgbClr val="1F497D"/>
                </a:solidFill>
                <a:latin typeface="Arial"/>
              </a:rPr>
              <a:t>AI: </a:t>
            </a:r>
            <a:r>
              <a:rPr sz="900" b="0" u="none" i="0">
                <a:solidFill>
                  <a:srgbClr val="000000"/>
                </a:solidFill>
                <a:latin typeface="Arial"/>
              </a:rPr>
              <a:t>softmax over 6 states, 24 / 24 injected conditions identified in tests.  </a:t>
            </a:r>
            <a:r>
              <a:rPr sz="900" b="1" u="none" i="0">
                <a:solidFill>
                  <a:srgbClr val="1F497D"/>
                </a:solidFill>
                <a:latin typeface="Arial"/>
              </a:rPr>
              <a:t>Data: </a:t>
            </a:r>
            <a:r>
              <a:rPr sz="900" b="0" u="none" i="0">
                <a:solidFill>
                  <a:srgbClr val="000000"/>
                </a:solidFill>
                <a:latin typeface="Arial"/>
              </a:rPr>
              <a:t>synthetic records modelled on real districts, flora and public parameters (slide 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CodeVerse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20040" y="1170432"/>
            <a:ext cx="3749039" cy="3657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u="none" i="0">
                <a:solidFill>
                  <a:srgbClr val="FFFFFF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20040" y="1536192"/>
            <a:ext cx="3749039" cy="274320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73152" rIns="73152" tIns="27432" bIns="27432">
            <a:spAutoFit/>
          </a:bodyPr>
          <a:lstStyle/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E8B57"/>
              </a:buClr>
              <a:buChar char="•"/>
            </a:pPr>
            <a:r>
              <a:rPr sz="1030" b="1" u="none" i="0">
                <a:solidFill>
                  <a:srgbClr val="2E8B57"/>
                </a:solidFill>
                <a:latin typeface="Arial"/>
              </a:rPr>
              <a:t>Technical: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working prototype live (ledger, QR verify, lab portal with NMR/SMR, hive AI, receipts, PWA); mature open-source stack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E8B57"/>
              </a:buClr>
              <a:buChar char="•"/>
            </a:pPr>
            <a:r>
              <a:rPr sz="1030" b="1" u="none" i="0">
                <a:solidFill>
                  <a:srgbClr val="2E8B57"/>
                </a:solidFill>
                <a:latin typeface="Arial"/>
              </a:rPr>
              <a:t>Hardware: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ESP32 node ≈ ₹1.5-2.5k per hive*; one LoRa gateway serves 20-40 hives within ~5 km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E8B57"/>
              </a:buClr>
              <a:buChar char="•"/>
            </a:pPr>
            <a:r>
              <a:rPr sz="1030" b="1" u="none" i="0">
                <a:solidFill>
                  <a:srgbClr val="2E8B57"/>
                </a:solidFill>
                <a:latin typeface="Arial"/>
              </a:rPr>
              <a:t>Economic: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near-zero ledger cost (PoA, no gas); QR label ≈ ₹0.1-0.3 per jar*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E8B57"/>
              </a:buClr>
              <a:buChar char="•"/>
            </a:pPr>
            <a:r>
              <a:rPr sz="1030" b="1" u="none" i="0">
                <a:solidFill>
                  <a:srgbClr val="2E8B57"/>
                </a:solidFill>
                <a:latin typeface="Arial"/>
              </a:rPr>
              <a:t>Operational: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fits NBHM / KVIC clusters, NABL labs and FSSAI oversight; no new institution needed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E8B57"/>
              </a:buClr>
              <a:buChar char="•"/>
            </a:pPr>
            <a:r>
              <a:rPr sz="1030" b="1" u="none" i="0">
                <a:solidFill>
                  <a:srgbClr val="2E8B57"/>
                </a:solidFill>
                <a:latin typeface="Arial"/>
              </a:rPr>
              <a:t>Regulatory: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minimal personal data (name, village); limits FSSAI/BIS-style, final limits set by the notified lab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E8B57"/>
              </a:buClr>
              <a:buChar char="•"/>
            </a:pPr>
            <a:r>
              <a:rPr sz="1030" b="1" u="none" i="0">
                <a:solidFill>
                  <a:srgbClr val="2E8B57"/>
                </a:solidFill>
                <a:latin typeface="Arial"/>
              </a:rPr>
              <a:t>Scalable: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validator nodes per KVIC region; hashes on-chain, raw data off-chain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197096" y="1170432"/>
            <a:ext cx="3749039" cy="365760"/>
          </a:xfrm>
          <a:prstGeom prst="rect">
            <a:avLst/>
          </a:prstGeom>
          <a:solidFill>
            <a:srgbClr val="B3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u="none" i="0">
                <a:solidFill>
                  <a:srgbClr val="FFFFFF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97096" y="1536192"/>
            <a:ext cx="3749039" cy="274320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73152" rIns="73152" tIns="27432" bIns="27432">
            <a:spAutoFit/>
          </a:bodyPr>
          <a:lstStyle/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B3372F"/>
              </a:buClr>
              <a:buChar char="•"/>
            </a:pPr>
            <a:r>
              <a:rPr sz="1030" b="1" u="none" i="0">
                <a:solidFill>
                  <a:srgbClr val="B3372F"/>
                </a:solidFill>
                <a:latin typeface="Arial"/>
              </a:rPr>
              <a:t>Garbage-in: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a dishonest lab or beekeeper can enter false data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B3372F"/>
              </a:buClr>
              <a:buChar char="•"/>
            </a:pPr>
            <a:r>
              <a:rPr sz="1030" b="1" u="none" i="0">
                <a:solidFill>
                  <a:srgbClr val="B3372F"/>
                </a:solidFill>
                <a:latin typeface="Arial"/>
              </a:rPr>
              <a:t>Adulteration that beats basic tests: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engineered syrups pass C4/HMF (CSE 2020)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B3372F"/>
              </a:buClr>
              <a:buChar char="•"/>
            </a:pPr>
            <a:r>
              <a:rPr sz="1030" b="1" u="none" i="0">
                <a:solidFill>
                  <a:srgbClr val="B3372F"/>
                </a:solidFill>
                <a:latin typeface="Arial"/>
              </a:rPr>
              <a:t>Connectivity and literacy: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patchy 2G/4G, low digital skills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B3372F"/>
              </a:buClr>
              <a:buChar char="•"/>
            </a:pPr>
            <a:r>
              <a:rPr sz="1030" b="1" u="none" i="0">
                <a:solidFill>
                  <a:srgbClr val="B3372F"/>
                </a:solidFill>
                <a:latin typeface="Arial"/>
              </a:rPr>
              <a:t>QR cloning: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copying a genuine label onto fake jars, refilling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B3372F"/>
              </a:buClr>
              <a:buChar char="•"/>
            </a:pPr>
            <a:r>
              <a:rPr sz="1030" b="1" u="none" i="0">
                <a:solidFill>
                  <a:srgbClr val="B3372F"/>
                </a:solidFill>
                <a:latin typeface="Arial"/>
              </a:rPr>
              <a:t>Field hardware: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sensor drift, theft, power, weather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B3372F"/>
              </a:buClr>
              <a:buChar char="•"/>
            </a:pPr>
            <a:r>
              <a:rPr sz="1030" b="1" u="none" i="0">
                <a:solidFill>
                  <a:srgbClr val="B3372F"/>
                </a:solidFill>
                <a:latin typeface="Arial"/>
              </a:rPr>
              <a:t>Adoption and governance: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cluster buy-in, cost sharing, who runs validators and keys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8074152" y="1170432"/>
            <a:ext cx="3749039" cy="36576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u="none" i="0">
                <a:solidFill>
                  <a:srgbClr val="FFFFFF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074152" y="1536192"/>
            <a:ext cx="3749039" cy="274320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73152" rIns="73152" tIns="27432" bIns="27432">
            <a:spAutoFit/>
          </a:bodyPr>
          <a:lstStyle/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F497D"/>
              </a:buClr>
              <a:buChar char="•"/>
            </a:pPr>
            <a:r>
              <a:rPr sz="1030" b="1" u="none" i="0">
                <a:solidFill>
                  <a:srgbClr val="1F497D"/>
                </a:solidFill>
                <a:latin typeface="Arial"/>
              </a:rPr>
              <a:t>Trust in inputs: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accredited-lab keys, random re-tests, IoT weight cross-check vs claimed yield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F497D"/>
              </a:buClr>
              <a:buChar char="•"/>
            </a:pPr>
            <a:r>
              <a:rPr sz="1030" b="1" u="none" i="0">
                <a:solidFill>
                  <a:srgbClr val="1F497D"/>
                </a:solidFill>
                <a:latin typeface="Arial"/>
              </a:rPr>
              <a:t>Lab-agnostic: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anchor NMR + SMR alongside C4/HMF; new tests plug in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F497D"/>
              </a:buClr>
              <a:buChar char="•"/>
            </a:pPr>
            <a:r>
              <a:rPr sz="1030" b="1" u="none" i="0">
                <a:solidFill>
                  <a:srgbClr val="1F497D"/>
                </a:solidFill>
                <a:latin typeface="Arial"/>
              </a:rPr>
              <a:t>Village-ready: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offline-first PWA, EN/HI, QR-first flows, assisted entry via KVIC field officers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F497D"/>
              </a:buClr>
              <a:buChar char="•"/>
            </a:pPr>
            <a:r>
              <a:rPr sz="1030" b="1" u="none" i="0">
                <a:solidFill>
                  <a:srgbClr val="1F497D"/>
                </a:solidFill>
                <a:latin typeface="Arial"/>
              </a:rPr>
              <a:t>Anti-cloning: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per-jar serials + single-use claim codes, tamper seals (roadmap)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F497D"/>
              </a:buClr>
              <a:buChar char="•"/>
            </a:pPr>
            <a:r>
              <a:rPr sz="1030" b="1" u="none" i="0">
                <a:solidFill>
                  <a:srgbClr val="1F497D"/>
                </a:solidFill>
                <a:latin typeface="Arial"/>
              </a:rPr>
              <a:t>Hardware: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calibration, solar, IP-rated enclosure, sensor-anomaly flags</a:t>
            </a:r>
          </a:p>
          <a:p>
            <a:pPr algn="l" marL="128016" indent="-12801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F497D"/>
              </a:buClr>
              <a:buChar char="•"/>
            </a:pPr>
            <a:r>
              <a:rPr sz="1030" b="1" u="none" i="0">
                <a:solidFill>
                  <a:srgbClr val="1F497D"/>
                </a:solidFill>
                <a:latin typeface="Arial"/>
              </a:rPr>
              <a:t>Governance: </a:t>
            </a:r>
            <a:r>
              <a:rPr sz="1030" b="0" u="none" i="0">
                <a:solidFill>
                  <a:srgbClr val="000000"/>
                </a:solidFill>
                <a:latin typeface="Arial"/>
              </a:rPr>
              <a:t>multi-stakeholder validators (KVIC, FSSAI, labs); hardware key storage; pilot via SHG trainers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20040" y="4343400"/>
            <a:ext cx="5669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 i="0">
                <a:solidFill>
                  <a:srgbClr val="1F497D"/>
                </a:solidFill>
                <a:latin typeface="Arial"/>
              </a:rPr>
              <a:t>Unit economics – planning estimates* (to be validated in the pilot)</a:t>
            </a:r>
          </a:p>
        </p:txBody>
      </p:sp>
      <p:graphicFrame>
        <p:nvGraphicFramePr>
          <p:cNvPr id="17417" name="Table 17416"/>
          <p:cNvGraphicFramePr>
            <a:graphicFrameLocks noGrp="1"/>
          </p:cNvGraphicFramePr>
          <p:nvPr/>
        </p:nvGraphicFramePr>
        <p:xfrm>
          <a:off x="320040" y="4617720"/>
          <a:ext cx="56692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1737360"/>
              </a:tblGrid>
              <a:tr h="283464"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45720" marR="45720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FFFFFF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45720" marR="45720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FFFF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marL="45720" marR="45720" marT="18288" marB="18288" anchor="ctr">
                    <a:solidFill>
                      <a:srgbClr val="1F497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Hive node (ESP32 + sensors)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₹1.5-2.5k / hive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solar + LoRa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LoRa gateway (per cluster)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₹15-25k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20-40 hives each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QR label per jar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₹0.1-0.3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printed by beekeeper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Pilot: 100 hives, 3-5 gateways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≈ ₹2-3.8 lakh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hardware only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7418" name="TextBox 17417"/>
          <p:cNvSpPr txBox="1"/>
          <p:nvPr/>
        </p:nvSpPr>
        <p:spPr>
          <a:xfrm>
            <a:off x="6172200" y="4343400"/>
            <a:ext cx="5669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 i="0">
                <a:solidFill>
                  <a:srgbClr val="1F497D"/>
                </a:solidFill>
                <a:latin typeface="Arial"/>
              </a:rPr>
              <a:t>Phased rollout and validation plan</a:t>
            </a:r>
          </a:p>
        </p:txBody>
      </p:sp>
      <p:sp>
        <p:nvSpPr>
          <p:cNvPr id="17419" name="Pentagon 17418"/>
          <p:cNvSpPr/>
          <p:nvPr/>
        </p:nvSpPr>
        <p:spPr>
          <a:xfrm>
            <a:off x="6172200" y="4617720"/>
            <a:ext cx="1371600" cy="365760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u="none" i="0">
                <a:solidFill>
                  <a:srgbClr val="FFFFFF"/>
                </a:solidFill>
                <a:latin typeface="Arial"/>
              </a:rPr>
              <a:t>Pilot · 0-3 mo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172200" y="5001768"/>
            <a:ext cx="137160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u="none" i="0">
                <a:solidFill>
                  <a:srgbClr val="000000"/>
                </a:solidFill>
                <a:latin typeface="Arial"/>
              </a:rPr>
              <a:t>2 clusters · 50 beekeepers · 100 hives · 1 lab</a:t>
            </a:r>
          </a:p>
        </p:txBody>
      </p:sp>
      <p:sp>
        <p:nvSpPr>
          <p:cNvPr id="17421" name="Pentagon 17420"/>
          <p:cNvSpPr/>
          <p:nvPr/>
        </p:nvSpPr>
        <p:spPr>
          <a:xfrm>
            <a:off x="7598664" y="4617720"/>
            <a:ext cx="1371600" cy="365760"/>
          </a:xfrm>
          <a:prstGeom prst="homePlate">
            <a:avLst/>
          </a:prstGeom>
          <a:solidFill>
            <a:srgbClr val="2F6B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u="none" i="0">
                <a:solidFill>
                  <a:srgbClr val="FFFFFF"/>
                </a:solidFill>
                <a:latin typeface="Arial"/>
              </a:rPr>
              <a:t>State · 4-9 mo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598664" y="5001768"/>
            <a:ext cx="137160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u="none" i="0">
                <a:solidFill>
                  <a:srgbClr val="000000"/>
                </a:solidFill>
                <a:latin typeface="Arial"/>
              </a:rPr>
              <a:t>10 clusters · 3 states · QR at Khadi outlets</a:t>
            </a:r>
          </a:p>
        </p:txBody>
      </p:sp>
      <p:sp>
        <p:nvSpPr>
          <p:cNvPr id="17423" name="Pentagon 17422"/>
          <p:cNvSpPr/>
          <p:nvPr/>
        </p:nvSpPr>
        <p:spPr>
          <a:xfrm>
            <a:off x="9025128" y="4617720"/>
            <a:ext cx="1371600" cy="365760"/>
          </a:xfrm>
          <a:prstGeom prst="homePlat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u="none" i="0">
                <a:solidFill>
                  <a:srgbClr val="FFFFFF"/>
                </a:solidFill>
                <a:latin typeface="Arial"/>
              </a:rPr>
              <a:t>Regional · 10-18 mo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9025128" y="5001768"/>
            <a:ext cx="137160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u="none" i="0">
                <a:solidFill>
                  <a:srgbClr val="000000"/>
                </a:solidFill>
                <a:latin typeface="Arial"/>
              </a:rPr>
              <a:t>all Honey Mission states · FSSAI dashboard</a:t>
            </a:r>
          </a:p>
        </p:txBody>
      </p:sp>
      <p:sp>
        <p:nvSpPr>
          <p:cNvPr id="17425" name="Pentagon 17424"/>
          <p:cNvSpPr/>
          <p:nvPr/>
        </p:nvSpPr>
        <p:spPr>
          <a:xfrm>
            <a:off x="10451592" y="4617720"/>
            <a:ext cx="1371600" cy="365760"/>
          </a:xfrm>
          <a:prstGeom prst="homePlate">
            <a:avLst/>
          </a:prstGeom>
          <a:solidFill>
            <a:srgbClr val="E98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u="none" i="0">
                <a:solidFill>
                  <a:srgbClr val="000000"/>
                </a:solidFill>
                <a:latin typeface="Arial"/>
              </a:rPr>
              <a:t>National · Yr 2+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0451592" y="5001768"/>
            <a:ext cx="137160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u="none" i="0">
                <a:solidFill>
                  <a:srgbClr val="000000"/>
                </a:solidFill>
                <a:latin typeface="Arial"/>
              </a:rPr>
              <a:t>open API · export certificates · trained CNN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172200" y="5596128"/>
            <a:ext cx="5669280" cy="73152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73152" rIns="73152" tIns="27432" bIns="27432">
            <a:spAutoFit/>
          </a:bodyPr>
          <a:lstStyle/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Validation first: 10-minute interviews with 5 beekeepers, 2 NABL labs, 1 KVIC field officer (script prepared)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Pilot KPIs: % batches with QR + lab certificate, scans/month, price realisation, colony-loss rate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u="none" i="0">
                <a:solidFill>
                  <a:srgbClr val="595959"/>
                </a:solidFill>
                <a:latin typeface="Arial"/>
              </a:rPr>
              <a:t>*Planning estimates, not quotes.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CodeVerse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143000"/>
            <a:ext cx="7680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u="none" i="0">
                <a:solidFill>
                  <a:srgbClr val="1F497D"/>
                </a:solidFill>
                <a:latin typeface="Arial"/>
              </a:rPr>
              <a:t>❖ </a:t>
            </a:r>
            <a:r>
              <a:rPr sz="1300" b="1" u="sng" i="0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320040" y="1481328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3566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FFFFFF"/>
                          </a:solidFill>
                          <a:latin typeface="Arial"/>
                        </a:rPr>
                        <a:t>Audience</a:t>
                      </a:r>
                    </a:p>
                  </a:txBody>
                  <a:tcPr marL="45720" marR="45720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FFFFFF"/>
                          </a:solidFill>
                          <a:latin typeface="Arial"/>
                        </a:rPr>
                        <a:t>Today</a:t>
                      </a:r>
                    </a:p>
                  </a:txBody>
                  <a:tcPr marL="45720" marR="45720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u="none" i="0">
                          <a:solidFill>
                            <a:srgbClr val="FFFFFF"/>
                          </a:solidFill>
                          <a:latin typeface="Arial"/>
                        </a:rPr>
                        <a:t>With Honey Chain</a:t>
                      </a:r>
                    </a:p>
                  </a:txBody>
                  <a:tcPr marL="45720" marR="45720" marT="18288" marB="18288" anchor="ctr"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Rural beekeepers (KVIC Honey Mission)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Cannot prove purity; sell to middlemen at commodity prices; late disease detection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Verifiable quality → direct buyers and premium price; early alerts and yield forecast reduce colony loss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Consumers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Cannot tell real honey from syrup blends; labels are easy to copy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Scan-to-verify in seconds: origin, lab report, journey, trust score; fake batches flagged before purchase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KVIC / FSSAI / regulators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No live view of production or adulteration; manual audits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Cluster dashboards, tamper-evident audit trail, adulteration flags, hotspot targeting for extension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Processors, retailers, e-commerce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Brand and recall risk from unverifiable supply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Trusted supply chain with custody trail; verified, premium-ready listings</a:t>
                      </a:r>
                    </a:p>
                  </a:txBody>
                  <a:tcPr marL="45720" marR="45720" marT="18288" marB="18288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u="none" i="0">
                          <a:solidFill>
                            <a:srgbClr val="1F497D"/>
                          </a:solidFill>
                          <a:latin typeface="Arial"/>
                        </a:rPr>
                        <a:t>Labs and exporters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Reports on paper, easy to dispute or re-use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u="none" i="0">
                          <a:solidFill>
                            <a:srgbClr val="000000"/>
                          </a:solidFill>
                          <a:latin typeface="Arial"/>
                        </a:rPr>
                        <a:t>Signed, immutable certificates (NMR/SMR/C4/HMF) reusable as export evidence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2" name="TextBox 17411"/>
          <p:cNvSpPr txBox="1"/>
          <p:nvPr/>
        </p:nvSpPr>
        <p:spPr>
          <a:xfrm>
            <a:off x="320040" y="4315968"/>
            <a:ext cx="7680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u="none" i="0">
                <a:solidFill>
                  <a:srgbClr val="1F497D"/>
                </a:solidFill>
                <a:latin typeface="Arial"/>
              </a:rPr>
              <a:t>❖ </a:t>
            </a:r>
            <a:r>
              <a:rPr sz="1300" b="1" u="sng" i="0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20040" y="4645152"/>
            <a:ext cx="1874519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u="none" i="0">
                <a:solidFill>
                  <a:srgbClr val="FFFFFF"/>
                </a:solidFill>
                <a:latin typeface="Arial"/>
              </a:rPr>
              <a:t>Social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20040" y="4937760"/>
            <a:ext cx="1874519" cy="137160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54864" rIns="54864" tIns="27432" bIns="27432">
            <a:spAutoFit/>
          </a:bodyPr>
          <a:lstStyle/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2E8B57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Trust in rural produce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2E8B57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Livelihood security incl. SHGs / women beekeepers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2E8B57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Bilingual, low-literacy design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267712" y="4645152"/>
            <a:ext cx="1874519" cy="292608"/>
          </a:xfrm>
          <a:prstGeom prst="rect">
            <a:avLst/>
          </a:prstGeom>
          <a:solidFill>
            <a:srgbClr val="E98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u="none" i="0">
                <a:solidFill>
                  <a:srgbClr val="000000"/>
                </a:solidFill>
                <a:latin typeface="Arial"/>
              </a:rPr>
              <a:t>Economic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267712" y="4937760"/>
            <a:ext cx="1874519" cy="137160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54864" rIns="54864" tIns="27432" bIns="27432">
            <a:spAutoFit/>
          </a:bodyPr>
          <a:lstStyle/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E98B1D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Higher realisation per kg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E98B1D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Less fraud loss for buyers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E98B1D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Export-ready traceability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E98B1D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Lower colony-loss cost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4215383" y="4645152"/>
            <a:ext cx="1874519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u="none" i="0">
                <a:solidFill>
                  <a:srgbClr val="FFFFFF"/>
                </a:solidFill>
                <a:latin typeface="Arial"/>
              </a:rPr>
              <a:t>Environmental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215383" y="4937760"/>
            <a:ext cx="1874519" cy="137160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54864" rIns="54864" tIns="27432" bIns="27432">
            <a:spAutoFit/>
          </a:bodyPr>
          <a:lstStyle/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0070C0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Healthier colonies → pollination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0070C0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Targeted treatment, less chemical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0070C0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Low-energy ledger (no mining)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0070C0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Paperless certificates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163055" y="4645152"/>
            <a:ext cx="1874519" cy="29260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u="none" i="0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163055" y="4937760"/>
            <a:ext cx="1874519" cy="137160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54864" rIns="54864" tIns="27432" bIns="27432">
            <a:spAutoFit/>
          </a:bodyPr>
          <a:lstStyle/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1F497D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Tamper-evident audit trail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1F497D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Data-driven KVIC planning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1F497D"/>
              </a:buClr>
              <a:buChar char="•"/>
            </a:pPr>
            <a:r>
              <a:rPr sz="950" b="0" u="none" i="0">
                <a:solidFill>
                  <a:srgbClr val="000000"/>
                </a:solidFill>
                <a:latin typeface="Arial"/>
              </a:rPr>
              <a:t>Aligned to SDG 1, 2, 8, 12, 15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29600" y="114300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 i="0">
                <a:solidFill>
                  <a:srgbClr val="1F497D"/>
                </a:solidFill>
                <a:latin typeface="Arial"/>
              </a:rPr>
              <a:t>WHY NOW – public evidence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8229600" y="1463040"/>
            <a:ext cx="64008" cy="841248"/>
          </a:xfrm>
          <a:prstGeom prst="rect">
            <a:avLst/>
          </a:prstGeom>
          <a:solidFill>
            <a:srgbClr val="B3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8366760" y="1435608"/>
            <a:ext cx="3520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u="none" i="0">
                <a:solidFill>
                  <a:srgbClr val="B3372F"/>
                </a:solidFill>
                <a:latin typeface="Arial"/>
              </a:rPr>
              <a:t>17 of 22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u="none" i="0">
                <a:solidFill>
                  <a:srgbClr val="000000"/>
                </a:solidFill>
                <a:latin typeface="Arial"/>
              </a:rPr>
              <a:t>honey samples tested were adulterated with sugar syrup (77%)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u="none" i="0">
                <a:solidFill>
                  <a:srgbClr val="595959"/>
                </a:solidFill>
                <a:latin typeface="Arial"/>
              </a:rPr>
              <a:t>CSE investigation, Dec 2020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8229600" y="2395728"/>
            <a:ext cx="64008" cy="841248"/>
          </a:xfrm>
          <a:prstGeom prst="rect">
            <a:avLst/>
          </a:prstGeom>
          <a:solidFill>
            <a:srgbClr val="B3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8366760" y="2368296"/>
            <a:ext cx="3520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u="none" i="0">
                <a:solidFill>
                  <a:srgbClr val="B3372F"/>
                </a:solidFill>
                <a:latin typeface="Arial"/>
              </a:rPr>
              <a:t>46%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u="none" i="0">
                <a:solidFill>
                  <a:srgbClr val="000000"/>
                </a:solidFill>
                <a:latin typeface="Arial"/>
              </a:rPr>
              <a:t>of imported honey in the EU was suspected of adulteration in 2022 (EU coordinated action)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u="none" i="0">
                <a:solidFill>
                  <a:srgbClr val="595959"/>
                </a:solidFill>
                <a:latin typeface="Arial"/>
              </a:rPr>
              <a:t>via Frontiers Sust. Food Syst., 2025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8229600" y="3328416"/>
            <a:ext cx="64008" cy="8412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8366760" y="3300984"/>
            <a:ext cx="3520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u="none" i="0">
                <a:solidFill>
                  <a:srgbClr val="2E8B57"/>
                </a:solidFill>
                <a:latin typeface="Arial"/>
              </a:rPr>
              <a:t>1.4 lakh MT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u="none" i="0">
                <a:solidFill>
                  <a:srgbClr val="000000"/>
                </a:solidFill>
                <a:latin typeface="Arial"/>
              </a:rPr>
              <a:t>natural honey produced in India in 2024; ~1.07 lakh MT exported in FY 2023-24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u="none" i="0">
                <a:solidFill>
                  <a:srgbClr val="595959"/>
                </a:solidFill>
                <a:latin typeface="Arial"/>
              </a:rPr>
              <a:t>PIB - National Beekeeping &amp; Honey Mission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8229600" y="4261104"/>
            <a:ext cx="64008" cy="8412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8366760" y="4233672"/>
            <a:ext cx="3520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u="none" i="0">
                <a:solidFill>
                  <a:srgbClr val="0070C0"/>
                </a:solidFill>
                <a:latin typeface="Arial"/>
              </a:rPr>
              <a:t>₹500 crore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u="none" i="0">
                <a:solidFill>
                  <a:srgbClr val="000000"/>
                </a:solidFill>
                <a:latin typeface="Arial"/>
              </a:rPr>
              <a:t>NBHM outlay, FY 2020-21 to 2025-26: production is growing, trust must keep pace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u="none" i="0">
                <a:solidFill>
                  <a:srgbClr val="595959"/>
                </a:solidFill>
                <a:latin typeface="Arial"/>
              </a:rPr>
              <a:t>PIB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229600" y="5230368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u="none" i="0">
                <a:solidFill>
                  <a:srgbClr val="1F497D"/>
                </a:solidFill>
                <a:latin typeface="Arial"/>
              </a:rPr>
              <a:t>Pilot KPIs (baseline measured at pilot start)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229600" y="5486400"/>
            <a:ext cx="3611880" cy="841248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54864" rIns="54864" tIns="27432" bIns="27432">
            <a:spAutoFit/>
          </a:bodyPr>
          <a:lstStyle/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100% of pilot batches with QR + lab certificate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Scans / month; adulterated batches flagged per 1,000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70C0"/>
              </a:buClr>
              <a:buChar char="•"/>
            </a:pPr>
            <a:r>
              <a:rPr sz="900" b="0" u="none" i="0">
                <a:solidFill>
                  <a:srgbClr val="000000"/>
                </a:solidFill>
                <a:latin typeface="Arial"/>
              </a:rPr>
              <a:t>Price realisation vs unlabelled honey; colony-loss rate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CodeVerse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143000"/>
            <a:ext cx="115214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u="none" i="0">
                <a:solidFill>
                  <a:srgbClr val="1F497D"/>
                </a:solidFill>
                <a:latin typeface="Arial"/>
              </a:rPr>
              <a:t>❖ </a:t>
            </a:r>
            <a:r>
              <a:rPr sz="1300" b="1" u="sng" i="0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20040" y="1463040"/>
            <a:ext cx="5760720" cy="3520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u="none" i="0">
                <a:solidFill>
                  <a:srgbClr val="1F497D"/>
                </a:solidFill>
                <a:latin typeface="Arial"/>
              </a:rPr>
              <a:t>Market, regulatory and standards evidence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1. </a:t>
            </a:r>
            <a:r>
              <a:rPr sz="950" b="1" u="none" i="0">
                <a:solidFill>
                  <a:srgbClr val="000000"/>
                </a:solidFill>
                <a:latin typeface="Arial"/>
              </a:rPr>
              <a:t>CSE – "Laboratory results of honey testing" (Dec 2020): NMR tests on branded honey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800" b="0" u="none" i="0">
                <a:solidFill>
                  <a:srgbClr val="0070C0"/>
                </a:solidFill>
                <a:latin typeface="Arial"/>
              </a:rPr>
              <a:t>cdn.downtoearth.org.in/report_laboratory_results_of_honey_testing_20201201.pdf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2. </a:t>
            </a:r>
            <a:r>
              <a:rPr sz="950" b="1" u="none" i="0">
                <a:solidFill>
                  <a:srgbClr val="000000"/>
                </a:solidFill>
                <a:latin typeface="Arial"/>
              </a:rPr>
              <a:t>FSSAI press release reviewing the CSE honey-sample issue (3 Dec 2020)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800" b="0" u="none" i="0">
                <a:solidFill>
                  <a:srgbClr val="0070C0"/>
                </a:solidFill>
                <a:latin typeface="Arial"/>
              </a:rPr>
              <a:t>fssai.gov.in/upload/press_release/2020/12/5fc8eb6d70965Press_Release_Honey_Sample_03_12_2020.pdf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3. </a:t>
            </a:r>
            <a:r>
              <a:rPr sz="950" b="1" u="none" i="0">
                <a:solidFill>
                  <a:srgbClr val="000000"/>
                </a:solidFill>
                <a:latin typeface="Arial"/>
              </a:rPr>
              <a:t>PIB – National Beekeeping &amp; Honey Mission: outlay, production, exports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800" b="0" u="none" i="0">
                <a:solidFill>
                  <a:srgbClr val="0070C0"/>
                </a:solidFill>
                <a:latin typeface="Arial"/>
              </a:rPr>
              <a:t>pib.gov.in/PressReleasePage.aspx?PRID=2185400   |   National Bee Board: nbb.gov.in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4. </a:t>
            </a:r>
            <a:r>
              <a:rPr sz="950" b="1" u="none" i="0">
                <a:solidFill>
                  <a:srgbClr val="000000"/>
                </a:solidFill>
                <a:latin typeface="Arial"/>
              </a:rPr>
              <a:t>The Tribune – "Honeytrap": syrups designed to bypass purity tests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800" b="0" u="none" i="0">
                <a:solidFill>
                  <a:srgbClr val="0070C0"/>
                </a:solidFill>
                <a:latin typeface="Arial"/>
              </a:rPr>
              <a:t>tribuneindia.com/news/nation/honeytrap-cse-investigations-claim-nefarious-adulteration-business-of-honey-designed-to-bypass-purity-tests-178930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5. </a:t>
            </a:r>
            <a:r>
              <a:rPr sz="950" b="1" u="none" i="0">
                <a:solidFill>
                  <a:srgbClr val="000000"/>
                </a:solidFill>
                <a:latin typeface="Arial"/>
              </a:rPr>
              <a:t>Business Standard – FSSAI on the SMR (rice-syrup marker) test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800" b="0" u="none" i="0">
                <a:solidFill>
                  <a:srgbClr val="0070C0"/>
                </a:solidFill>
                <a:latin typeface="Arial"/>
              </a:rPr>
              <a:t>business-standard.com/article/companies/fssai-questions-cse-for-not-conducting-smr-test-on-honey-brands-120120301199_1.html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6. </a:t>
            </a:r>
            <a:r>
              <a:rPr sz="950" b="1" u="none" i="0">
                <a:solidFill>
                  <a:srgbClr val="000000"/>
                </a:solidFill>
                <a:latin typeface="Arial"/>
              </a:rPr>
              <a:t>Codex Alimentarius – Standard for Honey, CXS 12-1981 (rev. 2001; amended 2019, 2022)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800" b="0" u="none" i="0">
                <a:solidFill>
                  <a:srgbClr val="0070C0"/>
                </a:solidFill>
                <a:latin typeface="Arial"/>
              </a:rPr>
              <a:t>fao.org/input/download/standards/310/cxs_012e.pdf   |   Indian standard: BIS IS 4941 (honey)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263640" y="1463040"/>
            <a:ext cx="5577840" cy="3520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u="none" i="0">
                <a:solidFill>
                  <a:srgbClr val="1F497D"/>
                </a:solidFill>
                <a:latin typeface="Arial"/>
              </a:rPr>
              <a:t>Technology and research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7. </a:t>
            </a:r>
            <a:r>
              <a:rPr sz="950" b="1" u="none" i="0">
                <a:solidFill>
                  <a:srgbClr val="000000"/>
                </a:solidFill>
                <a:latin typeface="Arial"/>
              </a:rPr>
              <a:t>Ramsey et al. – "The prediction of swarming in honeybee colonies using vibrational spectra", Sci. Rep. 10, 9798 (2020)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800" b="0" u="none" i="0">
                <a:solidFill>
                  <a:srgbClr val="0070C0"/>
                </a:solidFill>
                <a:latin typeface="Arial"/>
              </a:rPr>
              <a:t>nature.com/articles/s41598-020-66115-5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8. </a:t>
            </a:r>
            <a:r>
              <a:rPr sz="950" b="1" u="none" i="0">
                <a:solidFill>
                  <a:srgbClr val="000000"/>
                </a:solidFill>
                <a:latin typeface="Arial"/>
              </a:rPr>
              <a:t>Kulyukin – "Audio, image, video, and weather datasets for continuous electronic beehive monitoring", Applied Sciences 11(10), 4632 (2021)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800" b="0" u="none" i="0">
                <a:solidFill>
                  <a:srgbClr val="0070C0"/>
                </a:solidFill>
                <a:latin typeface="Arial"/>
              </a:rPr>
              <a:t>Open datasets for training the production CNN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9. </a:t>
            </a:r>
            <a:r>
              <a:rPr sz="950" b="1" u="none" i="0">
                <a:solidFill>
                  <a:srgbClr val="000000"/>
                </a:solidFill>
                <a:latin typeface="Arial"/>
              </a:rPr>
              <a:t>Machine Learning and Computer Vision Techniques in Continuous Beehive Monitoring Applications: A survey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800" b="0" u="none" i="0">
                <a:solidFill>
                  <a:srgbClr val="0070C0"/>
                </a:solidFill>
                <a:latin typeface="Arial"/>
              </a:rPr>
              <a:t>arxiv.org/pdf/2208.00085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10. </a:t>
            </a:r>
            <a:r>
              <a:rPr sz="950" b="1" u="none" i="0">
                <a:solidFill>
                  <a:srgbClr val="000000"/>
                </a:solidFill>
                <a:latin typeface="Arial"/>
              </a:rPr>
              <a:t>"Fujairah Honey Chain (FHC): A Blockchain Framework for Monitoring Honey Production", Information 16(8), 626 (2025)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800" b="0" u="none" i="0">
                <a:solidFill>
                  <a:srgbClr val="0070C0"/>
                </a:solidFill>
                <a:latin typeface="Arial"/>
              </a:rPr>
              <a:t>mdpi.com/2078-2489/16/8/626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11. </a:t>
            </a:r>
            <a:r>
              <a:rPr sz="950" b="1" u="none" i="0">
                <a:solidFill>
                  <a:srgbClr val="000000"/>
                </a:solidFill>
                <a:latin typeface="Arial"/>
              </a:rPr>
              <a:t>"Analysing blockchain adoption in beekeeping: application of theoretical models", Frontiers in Sustainable Food Systems (2025)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800" b="0" u="none" i="0">
                <a:solidFill>
                  <a:srgbClr val="0070C0"/>
                </a:solidFill>
                <a:latin typeface="Arial"/>
              </a:rPr>
              <a:t>frontiersin.org/journals/sustainable-food-systems/articles/10.3389/fsufs.2025.1566341/full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20040" y="4041648"/>
            <a:ext cx="115214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u="none" i="0">
                <a:solidFill>
                  <a:srgbClr val="1F497D"/>
                </a:solidFill>
                <a:latin typeface="Arial"/>
              </a:rPr>
              <a:t>Data used in the prototype (transparency)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20040" y="4279392"/>
            <a:ext cx="11521440" cy="822960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73152" rIns="73152" tIns="27432" bIns="27432">
            <a:spAutoFit/>
          </a:bodyPr>
          <a:lstStyle/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E8B57"/>
              </a:buClr>
              <a:buChar char="•"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Real public data: </a:t>
            </a:r>
            <a:r>
              <a:rPr sz="950" b="0" u="none" i="0">
                <a:solidFill>
                  <a:srgbClr val="000000"/>
                </a:solidFill>
                <a:latin typeface="Arial"/>
              </a:rPr>
              <a:t>CSE 2020 test findings, PIB / NBHM production and outlay figures, FSSAI / BIS / Codex honey parameters (refs 1-6) - used for the problem evidence, lab limits and impact statistics.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98B1D"/>
              </a:buClr>
              <a:buChar char="•"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Prototype dataset: </a:t>
            </a:r>
            <a:r>
              <a:rPr sz="950" b="0" u="none" i="0">
                <a:solidFill>
                  <a:srgbClr val="000000"/>
                </a:solidFill>
                <a:latin typeface="Arial"/>
              </a:rPr>
              <a:t>15 hives, 10 batches and 51 ledger blocks across 8 real districts in 6 states (Bharatpur, Muzaffarpur, Ludhiana, South 24 Parganas, Saharanpur, Nashik, Nagpur, Sawai Madhopur) using real flowering regions. Beekeeper names, hive IDs, lab reports and sensor streams are synthetic (no real individuals); real pilot data replaces them in Phase 0.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950" b="1" u="none" i="0">
                <a:solidFill>
                  <a:srgbClr val="1F497D"/>
                </a:solidFill>
                <a:latin typeface="Arial"/>
              </a:rPr>
              <a:t>AI data path: </a:t>
            </a:r>
            <a:r>
              <a:rPr sz="950" b="0" u="none" i="0">
                <a:solidFill>
                  <a:srgbClr val="000000"/>
                </a:solidFill>
                <a:latin typeface="Arial"/>
              </a:rPr>
              <a:t>prototype model runs on simulated telemetry; production CNN to be trained on open beehive datasets (refs 8, 9) plus KVIC apiary recordings.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20040" y="5120640"/>
            <a:ext cx="67665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u="none" i="0">
                <a:solidFill>
                  <a:srgbClr val="1F497D"/>
                </a:solidFill>
                <a:latin typeface="Arial"/>
              </a:rPr>
              <a:t>Research takeaways applied in the design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20040" y="5376672"/>
            <a:ext cx="6858000" cy="932688"/>
          </a:xfrm>
          <a:prstGeom prst="rect">
            <a:avLst/>
          </a:prstGeom>
          <a:solidFill>
            <a:srgbClr val="F2F5FA"/>
          </a:solidFill>
        </p:spPr>
        <p:txBody>
          <a:bodyPr wrap="square" anchor="t" lIns="73152" rIns="73152" tIns="27432" bIns="27432">
            <a:spAutoFit/>
          </a:bodyPr>
          <a:lstStyle/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Char char="•"/>
            </a:pPr>
            <a:r>
              <a:rPr sz="860" b="0" u="none" i="0">
                <a:solidFill>
                  <a:srgbClr val="000000"/>
                </a:solidFill>
                <a:latin typeface="Arial"/>
              </a:rPr>
              <a:t>Engineered syrups can pass C4/HMF but fail NMR → ledger is lab-agnostic and anchors NMR + SMR results (refs 1, 4, 5)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Char char="•"/>
            </a:pPr>
            <a:r>
              <a:rPr sz="860" b="0" u="none" i="0">
                <a:solidFill>
                  <a:srgbClr val="000000"/>
                </a:solidFill>
                <a:latin typeface="Arial"/>
              </a:rPr>
              <a:t>Hive vibration/acoustics can forewarn swarming (ref 7) → colony-sound feature in the model; CNN trained on open datasets (refs 8, 9) is the production path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Char char="•"/>
            </a:pPr>
            <a:r>
              <a:rPr sz="860" b="0" u="none" i="0">
                <a:solidFill>
                  <a:srgbClr val="000000"/>
                </a:solidFill>
                <a:latin typeface="Arial"/>
              </a:rPr>
              <a:t>Blockchain honey frameworks exist (refs 10, 11); Honey Chain focuses on NMR/SMR-aware labs, Merkle-anchored telemetry and an offline bilingual PWA for Indian clusters</a:t>
            </a:r>
          </a:p>
          <a:p>
            <a:pPr algn="l" marL="146304" indent="-146304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Char char="•"/>
            </a:pPr>
            <a:r>
              <a:rPr sz="860" b="0" u="none" i="0">
                <a:solidFill>
                  <a:srgbClr val="000000"/>
                </a:solidFill>
                <a:latin typeface="Arial"/>
              </a:rPr>
              <a:t>Prototype lab limits are indicative (FSSAI / BIS / Codex style); final limits come from the notified lab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7360920" y="5138928"/>
            <a:ext cx="4480560" cy="1188720"/>
          </a:xfrm>
          <a:prstGeom prst="rect">
            <a:avLst/>
          </a:prstGeom>
          <a:noFill/>
          <a:ln w="9525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7406640" y="5157216"/>
            <a:ext cx="438912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u="none" i="0">
                <a:solidFill>
                  <a:srgbClr val="1F497D"/>
                </a:solidFill>
                <a:latin typeface="Arial"/>
              </a:rPr>
              <a:t>TRY THE PROTOTYPE</a:t>
            </a:r>
          </a:p>
        </p:txBody>
      </p:sp>
      <p:pic>
        <p:nvPicPr>
          <p:cNvPr id="17419" name="Picture 17418" descr="qr-l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5376672"/>
            <a:ext cx="713232" cy="713232"/>
          </a:xfrm>
          <a:prstGeom prst="rect">
            <a:avLst/>
          </a:prstGeom>
        </p:spPr>
      </p:pic>
      <p:pic>
        <p:nvPicPr>
          <p:cNvPr id="17420" name="Picture 17419" descr="qr-sou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48" y="5376672"/>
            <a:ext cx="713232" cy="713232"/>
          </a:xfrm>
          <a:prstGeom prst="rect">
            <a:avLst/>
          </a:prstGeom>
        </p:spPr>
      </p:pic>
      <p:pic>
        <p:nvPicPr>
          <p:cNvPr id="17421" name="Picture 17420" descr="qr-verif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5376672"/>
            <a:ext cx="713232" cy="713232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7388352" y="6053328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 i="0">
                <a:solidFill>
                  <a:srgbClr val="000000"/>
                </a:solidFill>
                <a:latin typeface="Arial"/>
              </a:rPr>
              <a:t>Live app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 u="none" i="0">
                <a:solidFill>
                  <a:srgbClr val="0070C0"/>
                </a:solidFill>
                <a:latin typeface="Arial"/>
              </a:rPr>
              <a:t>honey-chain-rust.vercel.app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8869680" y="6053328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 i="0">
                <a:solidFill>
                  <a:srgbClr val="000000"/>
                </a:solidFill>
                <a:latin typeface="Arial"/>
              </a:rPr>
              <a:t>Source code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 u="none" i="0">
                <a:solidFill>
                  <a:srgbClr val="0070C0"/>
                </a:solidFill>
                <a:latin typeface="Arial"/>
              </a:rPr>
              <a:t>github.com/Suyash2527/HoneyChain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0351008" y="6053328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 i="0">
                <a:solidFill>
                  <a:srgbClr val="000000"/>
                </a:solidFill>
                <a:latin typeface="Arial"/>
              </a:rPr>
              <a:t>Verify a sample batch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 u="none" i="0">
                <a:solidFill>
                  <a:srgbClr val="0070C0"/>
                </a:solidFill>
                <a:latin typeface="Arial"/>
              </a:rPr>
              <a:t>live app, batch HC-2026-0001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