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4937760" cy="4443984"/>
          </a:xfrm>
          <a:prstGeom prst="hexagon">
            <a:avLst/>
          </a:prstGeom>
          <a:ln w="12700">
            <a:solidFill>
              <a:srgbClr val="E9A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371600"/>
            <a:ext cx="3291840" cy="2962656"/>
          </a:xfrm>
          <a:prstGeom prst="hexagon">
            <a:avLst/>
          </a:prstGeom>
          <a:ln w="19050">
            <a:solidFill>
              <a:srgbClr val="E9A2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103120"/>
            <a:ext cx="1828800" cy="1645920"/>
          </a:xfrm>
          <a:prstGeom prst="hexagon">
            <a:avLst/>
          </a:prstGeom>
          <a:solidFill>
            <a:srgbClr val="1F4D3A"/>
          </a:solidFill>
          <a:ln w="31750">
            <a:solidFill>
              <a:srgbClr val="E9A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2514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4183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BFE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SCORE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INDIA HACKATHON 2026 · PS SIH26021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Honey Chain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9D1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jar of honey, proven from hive to shelf.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traceability + IoT and AI smart beekeeping for rural India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C3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Ministry of MSME · KVIC Honey Mission · Agriculture, FoodTech &amp; Rural 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5760720"/>
            <a:ext cx="10789920" cy="0"/>
          </a:xfrm>
          <a:prstGeom prst="line">
            <a:avLst/>
          </a:prstGeom>
          <a:noFill/>
          <a:ln w="12700">
            <a:solidFill>
              <a:srgbClr val="3A5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name   ·   github.com/Suyash2527/HoneyChain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beekeepers cannot prove their honey is real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ईमानदार मधुमक्खी पालक अपने शहद की शुद्धता साबित नहीं कर पाते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21992"/>
            <a:ext cx="54864" cy="384048"/>
          </a:xfrm>
          <a:prstGeom prst="rect">
            <a:avLst/>
          </a:prstGeom>
          <a:solidFill>
            <a:srgbClr val="B3372F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1671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Counterfeit honey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6968" y="267919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Syrup-blended honey looks and tastes close to the real thing and sits on the same shelf.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057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221992"/>
            <a:ext cx="54864" cy="384048"/>
          </a:xfrm>
          <a:prstGeom prst="rect">
            <a:avLst/>
          </a:prstGeom>
          <a:solidFill>
            <a:srgbClr val="B3372F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1671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consumer trust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73368" y="267919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labels and logos are easy to copy, so buyers discount every producer.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657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822192"/>
            <a:ext cx="54864" cy="384048"/>
          </a:xfrm>
          <a:prstGeom prst="rect">
            <a:avLst/>
          </a:prstGeom>
          <a:solidFill>
            <a:srgbClr val="B3372F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" y="37673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market linkage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6968" y="427939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no proof of quality, rural beekeepers sell to middlemen at commodity prices.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657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822192"/>
            <a:ext cx="54864" cy="384048"/>
          </a:xfrm>
          <a:prstGeom prst="rect">
            <a:avLst/>
          </a:prstGeom>
          <a:solidFill>
            <a:srgbClr val="B3372F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37673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hive intelligence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73368" y="427939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Disease, queen loss and swarming are noticed late - lost colonies, lost yield.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534924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37667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 </a:t>
            </a:r>
            <a:pPr indent="0" marL="0">
              <a:buNone/>
            </a:pPr>
            <a:r>
              <a:rPr lang="en-US" sz="130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KVIC's Honey Mission gives rural beekeepers bee boxes and extraction toolkits. Production is growing; authenticity, traceability and hive-management support have not kept pace.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ledger from hive to jar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छत्ते से जार तक एक बहीखाता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103120"/>
            <a:ext cx="1737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bee box gets a digital 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96312" y="2103120"/>
            <a:ext cx="1737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33472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33472" y="29718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and AI watch colony health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06824" y="2103120"/>
            <a:ext cx="1737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443984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Harvest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43984" y="29718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and QR code created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2103120"/>
            <a:ext cx="1737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54496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54496" y="29718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result sealed on chain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27848" y="2103120"/>
            <a:ext cx="1737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065008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65008" y="29718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handover logged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38360" y="2103120"/>
            <a:ext cx="1737360" cy="16916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875520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75520" y="29718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scans and sees the truth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23367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6" name="Text 34"/>
          <p:cNvSpPr/>
          <p:nvPr/>
        </p:nvSpPr>
        <p:spPr>
          <a:xfrm>
            <a:off x="886968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traceability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86968" y="4690872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Tamper-evident batch records, QR verification, a 0-100 trust score, and lab failures that stay on record permanently.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43400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43400" y="4233672"/>
            <a:ext cx="54864" cy="38404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0" name="Text 38"/>
          <p:cNvSpPr/>
          <p:nvPr/>
        </p:nvSpPr>
        <p:spPr>
          <a:xfrm>
            <a:off x="4544568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hive monitoring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44568" y="4690872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Weight, brood temperature, humidity, colony sound, CO2 and entrance activity from a low-cost ESP32 node.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01000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4233672"/>
            <a:ext cx="54864" cy="384048"/>
          </a:xfrm>
          <a:prstGeom prst="rect">
            <a:avLst/>
          </a:prstGeom>
          <a:solidFill>
            <a:srgbClr val="2F5D8C"/>
          </a:solidFill>
          <a:ln/>
        </p:spPr>
      </p:sp>
      <p:sp>
        <p:nvSpPr>
          <p:cNvPr id="44" name="Text 42"/>
          <p:cNvSpPr/>
          <p:nvPr/>
        </p:nvSpPr>
        <p:spPr>
          <a:xfrm>
            <a:off x="8202168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02168" y="4690872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varroa, foulbrood, queen loss, swarming and starvation, and forecasts 30-day yield with plain-language advice.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Inexpensive at the edge, trusted at the core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गाँव में सस्ता, केंद्र में भरोसेमंद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10835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391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&amp; regulator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LAYER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211226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1226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verification PWA (EN / हिन्दी)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211226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211226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Retailer verification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59952" y="211226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11226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FSSAI / KVIC dashboard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971800"/>
            <a:ext cx="10835640" cy="896112"/>
          </a:xfrm>
          <a:prstGeom prst="rect">
            <a:avLst/>
          </a:prstGeom>
          <a:solidFill>
            <a:srgbClr val="E8EEF6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044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PoA blockchain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3118104"/>
            <a:ext cx="19065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18104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KVIC validator nodes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99532" y="3118104"/>
            <a:ext cx="19065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9532" y="3118104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FSSAI node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15784" y="3118104"/>
            <a:ext cx="19065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15784" y="3118104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Accredited lab nodes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32036" y="3118104"/>
            <a:ext cx="19065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32036" y="3118104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contract: batch, lab, custody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3977640"/>
            <a:ext cx="10835640" cy="896112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0507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edge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KVIC CLUSTER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412394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12394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gateway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71616" y="412394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412394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AI: disease + yield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59952" y="412394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59952" y="412394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Merkle-root batching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5800" y="4983480"/>
            <a:ext cx="10835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0566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 layer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2960" y="5486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HIVE + BEEKEEPER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83280" y="512978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512978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node: load cell, temp, humidity, mic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71616" y="512978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512978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link, solar powered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759952" y="5129784"/>
            <a:ext cx="25786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59952" y="5129784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Beekeeper app + QR labels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85800" y="5961888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hashes go on-chain; raw sensor data stays local and is anchored as a Merkle root, so a 2G link is enough.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BLOCKCHAIN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permissioned Proof-of-Authority chain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अनुमति-आधारित PoA ब्लॉकचेन क्यों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21992"/>
            <a:ext cx="54864" cy="384048"/>
          </a:xfrm>
          <a:prstGeom prst="rect">
            <a:avLst/>
          </a:prstGeom>
          <a:solidFill>
            <a:srgbClr val="2F5D8C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Tamper-evident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6968" y="26791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block hashes its own data and the previous block. Edit a record and its hash breaks; re-hash it and every later block breaks.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21992"/>
            <a:ext cx="54864" cy="384048"/>
          </a:xfrm>
          <a:prstGeom prst="rect">
            <a:avLst/>
          </a:prstGeom>
          <a:solidFill>
            <a:srgbClr val="2F5D8C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fees, low energy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26791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Validators are KVIC, FSSAI and labs. No mining and no gas - beekeepers never pay to write.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221992"/>
            <a:ext cx="54864" cy="384048"/>
          </a:xfrm>
          <a:prstGeom prst="rect">
            <a:avLst/>
          </a:prstGeom>
          <a:solidFill>
            <a:srgbClr val="2F5D8C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Role-based, accountable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02168" y="26791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registered beekeepers, labs, processors and retailers can write their own event types. Every block is signed by a known validator.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ON-CHAIN EVENT TYPES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526280"/>
            <a:ext cx="3520440" cy="548640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526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HIVE_REGISTERED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4526280"/>
            <a:ext cx="3520440" cy="548640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25112" y="4526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HARVEST_LOGGED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64424" y="4526280"/>
            <a:ext cx="3520440" cy="548640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64424" y="4526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SENSOR_ATTESTATION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212080"/>
            <a:ext cx="3520440" cy="548640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12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LAB_CERTIFIED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25112" y="5212080"/>
            <a:ext cx="3520440" cy="548640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5112" y="5212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CUSTODY_TRANSFER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64424" y="5212080"/>
            <a:ext cx="3520440" cy="548640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64424" y="5212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RETAIL_PACKED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598932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Solidity contract included in the repo · production target: Hyperledger Besu / Fabric-class network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the QR. See the truth in seconds.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स्कैन करें, सच्चाई तुरंत जानें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2743200" cy="4297680"/>
          </a:xfrm>
          <a:prstGeom prst="roundRect">
            <a:avLst>
              <a:gd name="adj" fmla="val 9333"/>
            </a:avLst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2048256"/>
            <a:ext cx="2578608" cy="4133088"/>
          </a:xfrm>
          <a:prstGeom prst="roundRect">
            <a:avLst>
              <a:gd name="adj" fmla="val 7801"/>
            </a:avLst>
          </a:prstGeom>
          <a:solidFill>
            <a:srgbClr val="FAF6EC"/>
          </a:solidFill>
          <a:ln w="12700">
            <a:solidFill>
              <a:srgbClr val="FAF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148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HC-2026-0001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05840" y="2468880"/>
            <a:ext cx="2377440" cy="1965960"/>
          </a:xfrm>
          <a:prstGeom prst="roundRect">
            <a:avLst>
              <a:gd name="adj" fmla="val 4651"/>
            </a:avLst>
          </a:prstGeom>
          <a:solidFill>
            <a:srgbClr val="02281C"/>
          </a:solidFill>
          <a:ln w="12700">
            <a:solidFill>
              <a:srgbClr val="02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2606040"/>
            <a:ext cx="1005840" cy="1005840"/>
          </a:xfrm>
          <a:prstGeom prst="ellipse">
            <a:avLst/>
          </a:prstGeom>
          <a:ln w="6350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28346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honey - verified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9D1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असली शहद - सत्यापित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5840" y="4572000"/>
            <a:ext cx="2377440" cy="420624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5720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Moisture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457200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17.8%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88920" y="4672584"/>
            <a:ext cx="548640" cy="219456"/>
          </a:xfrm>
          <a:prstGeom prst="rect">
            <a:avLst/>
          </a:prstGeom>
          <a:solidFill>
            <a:srgbClr val="E3F1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005840" y="5029200"/>
            <a:ext cx="2377440" cy="420624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0292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502920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mg/kg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88920" y="5129784"/>
            <a:ext cx="548640" cy="219456"/>
          </a:xfrm>
          <a:prstGeom prst="rect">
            <a:avLst/>
          </a:prstGeom>
          <a:solidFill>
            <a:srgbClr val="E3F1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005840" y="5486400"/>
            <a:ext cx="2377440" cy="420624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4864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C4 sugar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11680" y="548640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88920" y="5586984"/>
            <a:ext cx="548640" cy="219456"/>
          </a:xfrm>
          <a:prstGeom prst="rect">
            <a:avLst/>
          </a:prstGeom>
          <a:solidFill>
            <a:srgbClr val="E3F1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023360" y="201168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0" y="2011680"/>
            <a:ext cx="64008" cy="74980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3" name="Text 31"/>
          <p:cNvSpPr/>
          <p:nvPr/>
        </p:nvSpPr>
        <p:spPr>
          <a:xfrm>
            <a:off x="4160520" y="201168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937760" y="2084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HC-2026-0001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Mustard · Deeg, Rajasthan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66560" y="201168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- verified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023360" y="288036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2880360"/>
            <a:ext cx="64008" cy="74980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9" name="Text 37"/>
          <p:cNvSpPr/>
          <p:nvPr/>
        </p:nvSpPr>
        <p:spPr>
          <a:xfrm>
            <a:off x="4160520" y="288036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937760" y="2953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HC-2026-0002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Eucalyptus · Nagpur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66560" y="28803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- verified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023360" y="374904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23360" y="3749040"/>
            <a:ext cx="64008" cy="749808"/>
          </a:xfrm>
          <a:prstGeom prst="rect">
            <a:avLst/>
          </a:prstGeom>
          <a:solidFill>
            <a:srgbClr val="2F5D8C"/>
          </a:solidFill>
          <a:ln/>
        </p:spPr>
      </p:sp>
      <p:sp>
        <p:nvSpPr>
          <p:cNvPr id="45" name="Text 43"/>
          <p:cNvSpPr/>
          <p:nvPr/>
        </p:nvSpPr>
        <p:spPr>
          <a:xfrm>
            <a:off x="4160520" y="37490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4937760" y="3822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HC-2026-0004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 · fresh harvest, no lab yet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66560" y="374904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5D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report pending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023360" y="461772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4617720"/>
            <a:ext cx="64008" cy="749808"/>
          </a:xfrm>
          <a:prstGeom prst="rect">
            <a:avLst/>
          </a:prstGeom>
          <a:solidFill>
            <a:srgbClr val="B3372F"/>
          </a:solidFill>
          <a:ln/>
        </p:spPr>
      </p:sp>
      <p:sp>
        <p:nvSpPr>
          <p:cNvPr id="51" name="Text 49"/>
          <p:cNvSpPr/>
          <p:nvPr/>
        </p:nvSpPr>
        <p:spPr>
          <a:xfrm>
            <a:off x="4160520" y="461772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4937760" y="4690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HC-2026-0003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37760" y="4983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Wildflower · 95 kg from one hive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66560" y="461772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37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buy - failed lab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823960" y="2011680"/>
            <a:ext cx="2697480" cy="3337560"/>
          </a:xfrm>
          <a:prstGeom prst="roundRect">
            <a:avLst>
              <a:gd name="adj" fmla="val 2712"/>
            </a:avLst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23960" y="217627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57" name="Text 55"/>
          <p:cNvSpPr/>
          <p:nvPr/>
        </p:nvSpPr>
        <p:spPr>
          <a:xfrm>
            <a:off x="9025128" y="21214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score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9025128" y="2633472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 source hives registered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+15 harvest logged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+40 lab PASS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+10 IoT data anchored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+10 custody trail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-20 implausible yield / hive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FAIL or score &lt; 50 = reject. A QR not on the ledger = "no such batch".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02336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55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outputs of the prototype's seeded ledger.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 +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hive: sensors that tell the beekeeper what to 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स्मार्ट छत्ता: सेंसर बताते हैं क्या करना है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2199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 node · est. ₹1,500-2,500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6968" y="2679192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ESP32, load cell (weight), DS18B20 (brood temperature), DHT22 (humidity), MEMS microphone (colony sound), CO2, solar + LoRa.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057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21992"/>
            <a:ext cx="54864" cy="384048"/>
          </a:xfrm>
          <a:prstGeom prst="rect">
            <a:avLst/>
          </a:prstGeom>
          <a:solidFill>
            <a:srgbClr val="B337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detection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2679192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Varroa · foulbrood · queenless · pre-swarm · starvation. Every prediction shows confidence and a recommended action.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2057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221992"/>
            <a:ext cx="54864" cy="38404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 forecast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02168" y="2679192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Weight-gain trend + forage index gives a 30-day honey surplus with an 80% range, for harvest and sales planning.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10835640" cy="1600200"/>
          </a:xfrm>
          <a:prstGeom prst="roundRect">
            <a:avLst>
              <a:gd name="adj" fmla="val 4571"/>
            </a:avLst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663440"/>
            <a:ext cx="10515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note  </a:t>
            </a:r>
            <a:pPr indent="0" marL="0">
              <a:buNone/>
            </a:pPr>
            <a:r>
              <a:rPr lang="en-US" sz="12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 uses simulated sensor streams and an explainable feature-based model; it identified all six injected conditions correctly in our tests (24 of 24). Production: a small CNN on hive audio and thermal trends trained on labelled KVIC apiary data, running on-device. Telemetry is hashed into a Merkle root and anchored on-chain so yield claims can be audited.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real in the prototype, and what is simulated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प्रोटोटाइप में क्या असली है और क्या सिम्युलेटेड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5349240" cy="4572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now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514600"/>
            <a:ext cx="5349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14600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hash-chained ledger with tamper detection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136392"/>
            <a:ext cx="5349240" cy="621792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36392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generation, camera scan and batch verification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758184"/>
            <a:ext cx="5349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58184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Trust-score engine and lab pass/fail against limits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379976"/>
            <a:ext cx="5349240" cy="621792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79976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portals: beekeeper, lab, supply chain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001768"/>
            <a:ext cx="5349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01768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diagnosis + forecast on the sensor stream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623560"/>
            <a:ext cx="5349240" cy="621792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623560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UI (English / हिन्दी), dark mode, accessibility options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2057400"/>
            <a:ext cx="5349240" cy="45720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 / next step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2514600"/>
            <a:ext cx="5349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514600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 runs in the browser - production uses a shared Besu / Fabric network (contract included)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3136392"/>
            <a:ext cx="5349240" cy="621792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136392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data is generated - production uses ESP32 nodes over LoRa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758184"/>
            <a:ext cx="5349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758184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explainable rules - production uses a trained CNN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4379976"/>
            <a:ext cx="5349240" cy="621792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379976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 signatures are simulated - production uses Ed25519 keys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5001768"/>
            <a:ext cx="5349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001768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Per-jar unique QR serials (roadmap)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72200" y="5623560"/>
            <a:ext cx="5349240" cy="621792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5623560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thresholds are indicative - set by notified labs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 rollout across KVIC beekeeping clusters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KVIC क्लस्टरों में चरणबद्ध विस्तार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2651760" cy="777240"/>
          </a:xfrm>
          <a:prstGeom prst="chevron">
            <a:avLst/>
          </a:prstGeom>
          <a:solidFill>
            <a:srgbClr val="1F4D3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011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 · Pilot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0-3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clusters, 50 beekeepers, 100 instrumented hives, 1 lab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10712" y="2011680"/>
            <a:ext cx="2651760" cy="777240"/>
          </a:xfrm>
          <a:prstGeom prst="chevron">
            <a:avLst/>
          </a:prstGeom>
          <a:solidFill>
            <a:srgbClr val="2F6B52"/>
          </a:solidFill>
          <a:ln/>
        </p:spPr>
      </p:sp>
      <p:sp>
        <p:nvSpPr>
          <p:cNvPr id="15" name="Text 13"/>
          <p:cNvSpPr/>
          <p:nvPr/>
        </p:nvSpPr>
        <p:spPr>
          <a:xfrm>
            <a:off x="3776472" y="2011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· State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10712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4-9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2152" y="32004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clusters in 3 states, 1,000 beekeepers, QR at Khadi outlets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35624" y="2011680"/>
            <a:ext cx="2651760" cy="777240"/>
          </a:xfrm>
          <a:prstGeom prst="chevron">
            <a:avLst/>
          </a:prstGeom>
          <a:solidFill>
            <a:srgbClr val="2E7D4F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011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· Regional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35624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10-18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27064" y="32004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Honey Mission states, FSSAI dashboard, marketplace integration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0536" y="2011680"/>
            <a:ext cx="2651760" cy="777240"/>
          </a:xfrm>
          <a:prstGeom prst="chevron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296" y="2011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· National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60536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2+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51976" y="32004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API for e-commerce and export certificates, trained disease model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50799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8" name="Text 26"/>
          <p:cNvSpPr/>
          <p:nvPr/>
        </p:nvSpPr>
        <p:spPr>
          <a:xfrm>
            <a:off x="886968" y="44531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village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6968" y="4965192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apps · bilingual and voice UI · QR-first flows · one LoRa gateway serves 20-40 hives · near-zero chain write cost (permissioned, no gas).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507992"/>
            <a:ext cx="54864" cy="384048"/>
          </a:xfrm>
          <a:prstGeom prst="rect">
            <a:avLst/>
          </a:prstGeom>
          <a:solidFill>
            <a:srgbClr val="B3372F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44531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we plan for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73368" y="4965192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Garbage-in from dishonest actors: accredited lab keys, random audits, IoT weight cross-check · QR cloning: per-jar serials and single-use claim codes · Governance: multi-stakeholder validators.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for beekeepers, consumers and KVIC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मधुमक्खी पालकों, उपभोक्ताओं और KVIC के लिए प्रभाव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21992"/>
            <a:ext cx="54864" cy="38404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Beekeepers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6968" y="2679192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of quality supports a premium price and direct market access. Early disease alerts protect colonies and yield.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0574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21992"/>
            <a:ext cx="54864" cy="38404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2679192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and know: origin, purity test and journey. Counterfeit batches are flagged before purchase.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20574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221992"/>
            <a:ext cx="54864" cy="38404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KVIC &amp; regulators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02168" y="2679192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dashboards for production, adulteration flags and disease hotspots to target extension support.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SUCCESS METRICS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709160"/>
            <a:ext cx="3520440" cy="585216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70916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of batches with QR + lab certificate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4709160"/>
            <a:ext cx="3520440" cy="585216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70916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scans per month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64424" y="4709160"/>
            <a:ext cx="3520440" cy="585216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470916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premium vs unlabelled honey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5422392"/>
            <a:ext cx="3520440" cy="585216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542239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Colony-loss reduction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25112" y="5422392"/>
            <a:ext cx="3520440" cy="585216"/>
          </a:xfrm>
          <a:prstGeom prst="rect">
            <a:avLst/>
          </a:prstGeom>
          <a:solidFill>
            <a:srgbClr val="F4EEDA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542239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A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Adulterated batches flagged / 1,000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now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अभी आज़माएँ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0"/>
          </a:xfrm>
          <a:prstGeom prst="line">
            <a:avLst/>
          </a:prstGeom>
          <a:noFill/>
          <a:ln w="12700">
            <a:solidFill>
              <a:srgbClr val="E2DA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E2D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 CHAIN · SIH26021 · KVIC HONEY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7627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1214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Honey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6968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/ camera scan, trust score, journey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10712" y="20116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217627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1214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Harvest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hives, enter harvest, get QR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35624" y="20116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35624" y="217627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0" name="Text 18"/>
          <p:cNvSpPr/>
          <p:nvPr/>
        </p:nvSpPr>
        <p:spPr>
          <a:xfrm>
            <a:off x="6336792" y="21214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Tests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36792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results, auto pass / fail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0536" y="20116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0536" y="217627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4" name="Text 22"/>
          <p:cNvSpPr/>
          <p:nvPr/>
        </p:nvSpPr>
        <p:spPr>
          <a:xfrm>
            <a:off x="9061704" y="21214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Hives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61704" y="263347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sensors, AI diagnosis, forecast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4747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63931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8" name="Text 26"/>
          <p:cNvSpPr/>
          <p:nvPr/>
        </p:nvSpPr>
        <p:spPr>
          <a:xfrm>
            <a:off x="886968" y="35844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6968" y="40965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Custody handovers and packing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10712" y="34747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0712" y="363931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2" name="Text 30"/>
          <p:cNvSpPr/>
          <p:nvPr/>
        </p:nvSpPr>
        <p:spPr>
          <a:xfrm>
            <a:off x="3611880" y="35844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Ledger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11880" y="40965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explorer + tamper demo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35624" y="34747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5624" y="363931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6" name="Text 34"/>
          <p:cNvSpPr/>
          <p:nvPr/>
        </p:nvSpPr>
        <p:spPr>
          <a:xfrm>
            <a:off x="6336792" y="35844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Plan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36792" y="40965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deployment framework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860536" y="34747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A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0536" y="3639312"/>
            <a:ext cx="54864" cy="384048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40" name="Text 38"/>
          <p:cNvSpPr/>
          <p:nvPr/>
        </p:nvSpPr>
        <p:spPr>
          <a:xfrm>
            <a:off x="9061704" y="35844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tour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061704" y="40965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855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walkthrough (EN / हिन्दी)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5800" y="5029200"/>
            <a:ext cx="10835640" cy="1234440"/>
          </a:xfrm>
          <a:prstGeom prst="rect">
            <a:avLst/>
          </a:prstGeom>
          <a:solidFill>
            <a:srgbClr val="02281C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5102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CODE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github.com/Suyash2527/HoneyChain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577900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LOCALLY   npm install &amp;&amp; npm run dev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2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97280"/>
            <a:ext cx="3840480" cy="3456432"/>
          </a:xfrm>
          <a:prstGeom prst="hexagon">
            <a:avLst/>
          </a:prstGeom>
          <a:ln w="12700">
            <a:solidFill>
              <a:srgbClr val="E9A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737360"/>
            <a:ext cx="2560320" cy="2304288"/>
          </a:xfrm>
          <a:prstGeom prst="hexagon">
            <a:avLst/>
          </a:prstGeom>
          <a:solidFill>
            <a:srgbClr val="1F4D3A"/>
          </a:solidFill>
          <a:ln w="25400">
            <a:solidFill>
              <a:srgbClr val="E9A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drop, proven.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9D1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हर बूँद पर भरोसा।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Honey Chain · SIH26021 · Ministry of MSME · KVIC Honey Mission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C3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github.com/Suyash2527/HoneyChain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C3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Honey Chain - SIH26021</dc:title>
  <dc:subject>PptxGenJS Presentation</dc:subject>
  <dc:creator>PptxGenJS</dc:creator>
  <cp:lastModifiedBy>PptxGenJS</cp:lastModifiedBy>
  <cp:revision>1</cp:revision>
  <dcterms:created xsi:type="dcterms:W3CDTF">2026-09-30T15:16:09Z</dcterms:created>
  <dcterms:modified xsi:type="dcterms:W3CDTF">2026-09-30T15:16:09Z</dcterms:modified>
</cp:coreProperties>
</file>