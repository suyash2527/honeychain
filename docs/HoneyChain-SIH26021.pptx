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1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1188720"/>
            <a:ext cx="3291840" cy="3291840"/>
          </a:xfrm>
          <a:prstGeom prst="hexagon">
            <a:avLst/>
          </a:prstGeom>
          <a:solidFill>
            <a:srgbClr val="F5A623"/>
          </a:solidFill>
          <a:ln w="50800">
            <a:solidFill>
              <a:srgbClr val="8A5A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89720" y="1874520"/>
            <a:ext cx="1920240" cy="1920240"/>
          </a:xfrm>
          <a:prstGeom prst="hexagon">
            <a:avLst/>
          </a:prstGeom>
          <a:solidFill>
            <a:srgbClr val="FFF3CF"/>
          </a:solidFill>
          <a:ln w="38100">
            <a:solidFill>
              <a:srgbClr val="8A5A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INDIA HACKATHON 2026 · SIH26021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Honey Chain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283464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6EC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Blockchain traceability and smart beekeeping for rural India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A6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Ministry of MSME · KVIC Honey Mission · Agriculture, FoodTech &amp; Rural Development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Team: &lt;Your team name&gt; · Live demo: https://honey-chain-suyashs-projects-0ba1789c.vercel.app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A5A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beekeepers cannot prove their honey is real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Honey Chain · SIH 2026 · PS SIH26021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26517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74520"/>
            <a:ext cx="73152" cy="1737360"/>
          </a:xfrm>
          <a:prstGeom prst="rect">
            <a:avLst/>
          </a:prstGeom>
          <a:solidFill>
            <a:srgbClr val="D64545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828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Counterfeit honey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240280"/>
            <a:ext cx="2286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Syrup-blended honey looks and tastes close to the real thing and sits on the same shelf.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83280" y="1737360"/>
            <a:ext cx="26517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83280" y="1874520"/>
            <a:ext cx="73152" cy="1737360"/>
          </a:xfrm>
          <a:prstGeom prst="rect">
            <a:avLst/>
          </a:prstGeom>
          <a:solidFill>
            <a:srgbClr val="D64545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1828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consumer trust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11880" y="2240280"/>
            <a:ext cx="2286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Paper labels and logos are easy to copy, so buyers discount every producer.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17920" y="1737360"/>
            <a:ext cx="26517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1874520"/>
            <a:ext cx="73152" cy="1737360"/>
          </a:xfrm>
          <a:prstGeom prst="rect">
            <a:avLst/>
          </a:prstGeom>
          <a:solidFill>
            <a:srgbClr val="D64545"/>
          </a:solidFill>
          <a:ln/>
        </p:spPr>
      </p:sp>
      <p:sp>
        <p:nvSpPr>
          <p:cNvPr id="16" name="Text 14"/>
          <p:cNvSpPr/>
          <p:nvPr/>
        </p:nvSpPr>
        <p:spPr>
          <a:xfrm>
            <a:off x="6446520" y="1828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Weak market linkage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46520" y="2240280"/>
            <a:ext cx="2286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proof of quality, rural beekeepers sell to middlemen at commodity prices.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052560" y="1737360"/>
            <a:ext cx="26517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0" y="1874520"/>
            <a:ext cx="73152" cy="1737360"/>
          </a:xfrm>
          <a:prstGeom prst="rect">
            <a:avLst/>
          </a:prstGeom>
          <a:solidFill>
            <a:srgbClr val="D64545"/>
          </a:solidFill>
          <a:ln/>
        </p:spPr>
      </p:sp>
      <p:sp>
        <p:nvSpPr>
          <p:cNvPr id="20" name="Text 18"/>
          <p:cNvSpPr/>
          <p:nvPr/>
        </p:nvSpPr>
        <p:spPr>
          <a:xfrm>
            <a:off x="9281160" y="1828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hive intelligence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281160" y="2240280"/>
            <a:ext cx="2286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Disease, queen loss and swarming are noticed late - lost colonies, lost yield.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206240"/>
            <a:ext cx="11155680" cy="1554480"/>
          </a:xfrm>
          <a:prstGeom prst="roundRect">
            <a:avLst>
              <a:gd name="adj" fmla="val 7059"/>
            </a:avLst>
          </a:prstGeom>
          <a:solidFill>
            <a:srgbClr val="FFF4D6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29768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Context: </a:t>
            </a:r>
            <a:pPr indent="0" marL="0">
              <a:buNone/>
            </a:pPr>
            <a:r>
              <a:rPr lang="en-US" sz="160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KVIC's Honey Mission supplies bee boxes and extraction toolkits to rural beekeepers for livelihood promotion. Production is growing, but authenticity, traceability and hive-management support have not kept pace. Genuine producers need a way to be believed.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A5A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Honey Chain: one ledger from hive to jar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Honey Chain · SIH 2026 · PS SIH26021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69164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92024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Register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1508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Hive gets a digital ID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221992" y="228600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5A00"/>
                </a:solidFill>
              </a:rPr>
              <a:t>›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423160" y="1828800"/>
            <a:ext cx="169164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23160" y="192024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Sense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514600" y="2377440"/>
            <a:ext cx="1508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IoT + AI watch the colony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96512" y="228600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5A00"/>
                </a:solidFill>
              </a:rPr>
              <a:t>›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297680" y="1828800"/>
            <a:ext cx="169164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0" y="192024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Harvest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389120" y="2377440"/>
            <a:ext cx="1508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 + QR minted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71032" y="228600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5A00"/>
                </a:solidFill>
              </a:rPr>
              <a:t>›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172200" y="1828800"/>
            <a:ext cx="169164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72200" y="192024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Certify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63640" y="2377440"/>
            <a:ext cx="1508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result anchored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845552" y="228600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5A00"/>
                </a:solidFill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046720" y="1828800"/>
            <a:ext cx="169164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0" y="192024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Move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138160" y="2377440"/>
            <a:ext cx="1508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Custody logged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720072" y="228600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5A00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921240" y="1828800"/>
            <a:ext cx="1691640" cy="1554480"/>
          </a:xfrm>
          <a:prstGeom prst="roundRect">
            <a:avLst>
              <a:gd name="adj" fmla="val 5882"/>
            </a:avLst>
          </a:prstGeom>
          <a:solidFill>
            <a:srgbClr val="F5A623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21240" y="192024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Verify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012680" y="2377440"/>
            <a:ext cx="1508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 scans QR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384048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3977640"/>
            <a:ext cx="73152" cy="192024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393192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Blockchain traceability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7240" y="4343400"/>
            <a:ext cx="32918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Tamper-evident batch records, QR consumer verification, trust score, lab pass/fail permanently on record.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4389120" y="384048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89120" y="3977640"/>
            <a:ext cx="73152" cy="192024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5" name="Text 33"/>
          <p:cNvSpPr/>
          <p:nvPr/>
        </p:nvSpPr>
        <p:spPr>
          <a:xfrm>
            <a:off x="4617720" y="393192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IoT hive monitoring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617720" y="4343400"/>
            <a:ext cx="32918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Weight, brood temperature, humidity, colony sound, CO2 and entrance activity streamed from a low-cost ESP32 node.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229600" y="384048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29600" y="3977640"/>
            <a:ext cx="73152" cy="192024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9" name="Text 37"/>
          <p:cNvSpPr/>
          <p:nvPr/>
        </p:nvSpPr>
        <p:spPr>
          <a:xfrm>
            <a:off x="8458200" y="39319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analytics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458200" y="4343400"/>
            <a:ext cx="31089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Disease and colony-health detection plus 30-day yield forecast, with plain-language advice for the beekeeper.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A5A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Architecture: cheap at the edge, trusted at the core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Honey Chain · SIH 2026 · PS SIH26021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155680" cy="1234440"/>
          </a:xfrm>
          <a:prstGeom prst="roundRect">
            <a:avLst>
              <a:gd name="adj" fmla="val 7407"/>
            </a:avLst>
          </a:prstGeom>
          <a:solidFill>
            <a:srgbClr val="FFF9E8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645920"/>
            <a:ext cx="21031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 &amp; Regulator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834640" y="1783080"/>
            <a:ext cx="2834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4640" y="1783080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scan PWA (Hindi/English)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06440" y="1783080"/>
            <a:ext cx="2834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06440" y="1783080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Retailer verification API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778240" y="1783080"/>
            <a:ext cx="2834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78240" y="1783080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FSSAI / KVIC dashboard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926080"/>
            <a:ext cx="11155680" cy="1234440"/>
          </a:xfrm>
          <a:prstGeom prst="roundRect">
            <a:avLst>
              <a:gd name="adj" fmla="val 7407"/>
            </a:avLst>
          </a:prstGeom>
          <a:solidFill>
            <a:srgbClr val="E9EE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971800"/>
            <a:ext cx="21031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Permissioned PoA blockchain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2834640" y="3108960"/>
            <a:ext cx="209169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0" y="3108960"/>
            <a:ext cx="20916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KVIC validator nodes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63490" y="3108960"/>
            <a:ext cx="209169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63490" y="3108960"/>
            <a:ext cx="20916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FSSAI node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292340" y="3108960"/>
            <a:ext cx="209169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92340" y="3108960"/>
            <a:ext cx="20916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Accredited lab nodes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521190" y="3108960"/>
            <a:ext cx="209169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21190" y="3108960"/>
            <a:ext cx="20916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contract: batches, lab result, custody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251960"/>
            <a:ext cx="11155680" cy="1234440"/>
          </a:xfrm>
          <a:prstGeom prst="roundRect">
            <a:avLst>
              <a:gd name="adj" fmla="val 7407"/>
            </a:avLst>
          </a:prstGeom>
          <a:solidFill>
            <a:srgbClr val="FFF4D6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97680"/>
            <a:ext cx="21031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 edge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2834640" y="4434840"/>
            <a:ext cx="2834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834640" y="4434840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KVIC cluster gateway (offline-first)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806440" y="4434840"/>
            <a:ext cx="2834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06440" y="4434840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Edge AI: disease + yield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778240" y="4434840"/>
            <a:ext cx="2834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78240" y="4434840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Merkle root batching of telemetry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577840"/>
            <a:ext cx="111556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5623560"/>
            <a:ext cx="21031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Village layer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2834640" y="5760720"/>
            <a:ext cx="2834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834640" y="5760720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ESP32 hive node (load cell, temp, humidity, mic)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806440" y="5760720"/>
            <a:ext cx="2834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06440" y="5760720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LoRa link, solar powered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8778240" y="5760720"/>
            <a:ext cx="2834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778240" y="5760720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Beekeeper app / QR label printer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48640" y="123444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hashes go on-chain; raw sensor data stays local and is anchored as a Merkle root, so a 2G link is enough.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A5A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BLOCKCHAIN DESIGN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a permissioned Proof-of-Authority chain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Honey Chain · SIH 2026 · PS SIH26021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74520"/>
            <a:ext cx="73152" cy="18288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8288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Tamper-evident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240280"/>
            <a:ext cx="32004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block hashes its own data and the previous block. Edit a record and its hash breaks; re-hash it and every later block breaks.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0" y="173736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1874520"/>
            <a:ext cx="73152" cy="18288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18288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fees, low energy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26280" y="2240280"/>
            <a:ext cx="32004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Validators are KVIC, FSSAI and labs. No mining, no gas - beekeepers never pay to write.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737360"/>
            <a:ext cx="36576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0" y="1874520"/>
            <a:ext cx="73152" cy="18288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16" name="Text 14"/>
          <p:cNvSpPr/>
          <p:nvPr/>
        </p:nvSpPr>
        <p:spPr>
          <a:xfrm>
            <a:off x="8275320" y="182880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Role-based &amp; accountable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75320" y="2240280"/>
            <a:ext cx="32918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registered beekeepers, labs, processors and retailers can write their own event types. Every block is signed by a known validator.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4069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On-chain event types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3566160" cy="548640"/>
          </a:xfrm>
          <a:prstGeom prst="roundRect">
            <a:avLst>
              <a:gd name="adj" fmla="val 13333"/>
            </a:avLst>
          </a:prstGeom>
          <a:solidFill>
            <a:srgbClr val="E9EEFF"/>
          </a:solidFill>
          <a:ln w="12700">
            <a:solidFill>
              <a:srgbClr val="3B5B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52628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5B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HIVE_REGISTERED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297680" y="4526280"/>
            <a:ext cx="3566160" cy="548640"/>
          </a:xfrm>
          <a:prstGeom prst="roundRect">
            <a:avLst>
              <a:gd name="adj" fmla="val 13333"/>
            </a:avLst>
          </a:prstGeom>
          <a:solidFill>
            <a:srgbClr val="E9EEFF"/>
          </a:solidFill>
          <a:ln w="12700">
            <a:solidFill>
              <a:srgbClr val="3B5B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97680" y="452628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5B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HARVEST_LOGGED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046720" y="4526280"/>
            <a:ext cx="3566160" cy="548640"/>
          </a:xfrm>
          <a:prstGeom prst="roundRect">
            <a:avLst>
              <a:gd name="adj" fmla="val 13333"/>
            </a:avLst>
          </a:prstGeom>
          <a:solidFill>
            <a:srgbClr val="E9EEFF"/>
          </a:solidFill>
          <a:ln w="12700">
            <a:solidFill>
              <a:srgbClr val="3B5B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0" y="452628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5B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SENSOR_ATTESTATION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5212080"/>
            <a:ext cx="3566160" cy="548640"/>
          </a:xfrm>
          <a:prstGeom prst="roundRect">
            <a:avLst>
              <a:gd name="adj" fmla="val 13333"/>
            </a:avLst>
          </a:prstGeom>
          <a:solidFill>
            <a:srgbClr val="E9EEFF"/>
          </a:solidFill>
          <a:ln w="12700">
            <a:solidFill>
              <a:srgbClr val="3B5B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21208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5B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LAB_CERTIFIED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297680" y="5212080"/>
            <a:ext cx="3566160" cy="548640"/>
          </a:xfrm>
          <a:prstGeom prst="roundRect">
            <a:avLst>
              <a:gd name="adj" fmla="val 13333"/>
            </a:avLst>
          </a:prstGeom>
          <a:solidFill>
            <a:srgbClr val="E9EEFF"/>
          </a:solidFill>
          <a:ln w="12700">
            <a:solidFill>
              <a:srgbClr val="3B5BD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97680" y="521208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5B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CUSTODY_TRANSFER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046720" y="5212080"/>
            <a:ext cx="3566160" cy="548640"/>
          </a:xfrm>
          <a:prstGeom prst="roundRect">
            <a:avLst>
              <a:gd name="adj" fmla="val 13333"/>
            </a:avLst>
          </a:prstGeom>
          <a:solidFill>
            <a:srgbClr val="E9EEFF"/>
          </a:solidFill>
          <a:ln w="12700">
            <a:solidFill>
              <a:srgbClr val="3B5B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6720" y="521208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5B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RETAIL_PACKED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598932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Solidity contract included (contracts/HoneyChain.sol) · production target: Hyperledger Besu / Fabric class network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A5A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 VERIFICATION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QR. See the truth in seconds.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Honey Chain · SIH 2026 · PS SIH26021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949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25400">
            <a:solidFill>
              <a:srgbClr val="1F9D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9D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554480" y="1737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F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HC-2026-0001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54480" y="21031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Mustard · Deeg, Rajasthan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0" y="169164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9D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authentic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651760"/>
            <a:ext cx="6949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25400">
            <a:solidFill>
              <a:srgbClr val="1F9D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9D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554480" y="26974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F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HC-2026-0002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30632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Eucalyptus · Nagpur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0" y="265176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9D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authentic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6949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25400">
            <a:solidFill>
              <a:srgbClr val="3B5B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6118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5B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554480" y="3657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F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HC-2026-0004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54480" y="40233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Ber · fresh harvest, no lab yet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72000" y="361188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B5B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certificate pending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6949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25400">
            <a:solidFill>
              <a:srgbClr val="D6454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572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64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1554480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F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HC-2026-0003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54480" y="4983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Wildflower · 95 kg from 1 hive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0" y="457200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45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buy - failed lab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0" y="1691640"/>
            <a:ext cx="393192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0" y="1828800"/>
            <a:ext cx="73152" cy="34290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8" name="Text 26"/>
          <p:cNvSpPr/>
          <p:nvPr/>
        </p:nvSpPr>
        <p:spPr>
          <a:xfrm>
            <a:off x="8001000" y="178308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 score (0-100)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001000" y="2194560"/>
            <a:ext cx="35661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 source hives registered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 harvest logged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+40 laboratory PASS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+10 IoT telemetry attested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+10 custody / retail trail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 implausible yield per hive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FAIL or score &lt; 50 = REJECT.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/ forged QR = "no such batch".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8640" y="5623560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above are live outputs of the prototype's seeded ledger.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A5A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IOT + AI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hive: sensors that tell the beekeeper what to do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Honey Chain · SIH 2026 · PS SIH26021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657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74520"/>
            <a:ext cx="73152" cy="21031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82880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Hive node (~₹1,500-2,500 est.)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240280"/>
            <a:ext cx="329184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ESP32, load cell (weight), DS18B20 (brood temp), DHT22 (humidity), MEMS mic (colony sound), CO2, solar + LoRa.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89120" y="1737360"/>
            <a:ext cx="3657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0" y="1874520"/>
            <a:ext cx="73152" cy="2103120"/>
          </a:xfrm>
          <a:prstGeom prst="rect">
            <a:avLst/>
          </a:prstGeom>
          <a:solidFill>
            <a:srgbClr val="D64545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182880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Disease &amp; health detection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2240280"/>
            <a:ext cx="329184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Varroa · foulbrood · queenless · pre-swarm · starvation. Every prediction shows confidence and a recommended action.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0" y="173736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874520"/>
            <a:ext cx="73152" cy="2103120"/>
          </a:xfrm>
          <a:prstGeom prst="rect">
            <a:avLst/>
          </a:prstGeom>
          <a:solidFill>
            <a:srgbClr val="1F9D55"/>
          </a:solidFill>
          <a:ln/>
        </p:spPr>
      </p:sp>
      <p:sp>
        <p:nvSpPr>
          <p:cNvPr id="16" name="Text 14"/>
          <p:cNvSpPr/>
          <p:nvPr/>
        </p:nvSpPr>
        <p:spPr>
          <a:xfrm>
            <a:off x="8458200" y="182880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Yield forecast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58200" y="2240280"/>
            <a:ext cx="310896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Weight-gain trend + forage index -&gt; 30-day honey surplus with an 80% range, for harvest and sales planning.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11155680" cy="1737360"/>
          </a:xfrm>
          <a:prstGeom prst="roundRect">
            <a:avLst>
              <a:gd name="adj" fmla="val 5263"/>
            </a:avLst>
          </a:prstGeom>
          <a:solidFill>
            <a:srgbClr val="FFF4D6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38912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Prototype honesty: </a:t>
            </a:r>
            <a:pPr indent="0" marL="0">
              <a:buNone/>
            </a:pPr>
            <a:r>
              <a:rPr lang="en-US" sz="140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demo uses simulated sensor streams and an explainable feature-based model - it correctly identifies all six injected conditions in our tests. Production path: a small CNN on hive audio + thermal trends trained on labelled KVIC apiary data, running on-device (TensorFlow Lite Micro). Telemetry is hashed into a Merkle root and anchored on-chain so yield claims can be audited.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A5A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 prototype - try it now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Honey Chain · SIH 2026 · PS SIH26021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26974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74520"/>
            <a:ext cx="73152" cy="11430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82880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 Honey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24028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/ camera scan, trust score, journey timeline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83280" y="1737360"/>
            <a:ext cx="26974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83280" y="1874520"/>
            <a:ext cx="73152" cy="11430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182880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Beekeeper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11880" y="224028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 hives, log harvest, issue QR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17920" y="1737360"/>
            <a:ext cx="26974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1874520"/>
            <a:ext cx="73152" cy="11430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6" name="Text 14"/>
          <p:cNvSpPr/>
          <p:nvPr/>
        </p:nvSpPr>
        <p:spPr>
          <a:xfrm>
            <a:off x="6446520" y="182880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46520" y="224028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 tests, auto pass/fail, anchor on chain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052560" y="1737360"/>
            <a:ext cx="26974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0" y="1874520"/>
            <a:ext cx="73152" cy="11430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0" name="Text 18"/>
          <p:cNvSpPr/>
          <p:nvPr/>
        </p:nvSpPr>
        <p:spPr>
          <a:xfrm>
            <a:off x="9281160" y="182880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Supply Chain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281160" y="224028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Custody transfers and retail packing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3337560"/>
            <a:ext cx="26974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474720"/>
            <a:ext cx="73152" cy="11430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342900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Hive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77240" y="384048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sensors, AI diagnosis, yield forecast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3383280" y="3337560"/>
            <a:ext cx="26974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3280" y="3474720"/>
            <a:ext cx="73152" cy="11430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8" name="Text 26"/>
          <p:cNvSpPr/>
          <p:nvPr/>
        </p:nvSpPr>
        <p:spPr>
          <a:xfrm>
            <a:off x="3611880" y="342900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Ledger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3611880" y="384048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 explorer + tamper-proof demo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217920" y="3337560"/>
            <a:ext cx="26974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17920" y="3474720"/>
            <a:ext cx="73152" cy="11430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2" name="Text 30"/>
          <p:cNvSpPr/>
          <p:nvPr/>
        </p:nvSpPr>
        <p:spPr>
          <a:xfrm>
            <a:off x="6446520" y="342900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446520" y="384048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 deployment framework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48640" y="502920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2A1F0E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0749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https://honey-chain-suyashs-projects-0ba1789c.vercel.app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731520" y="553212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6EC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Stack: React · Web Crypto SHA-256 hash-chained PoA ledger · QR generation + camera scan · deployed on Vercel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A5A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 FRAMEWORK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Scalable rollout across KVIC beekeeping clusters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Honey Chain · SIH 2026 · PS SIH26021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2743200" cy="822960"/>
          </a:xfrm>
          <a:prstGeom prst="chevron">
            <a:avLst/>
          </a:prstGeom>
          <a:solidFill>
            <a:srgbClr val="F5A623"/>
          </a:solidFill>
          <a:ln w="12700">
            <a:solidFill>
              <a:srgbClr val="8A5A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73736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 · Pilot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Months 0-3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clusters, 50 beekeepers, 100 instrumented hives, 1 lab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1737360"/>
            <a:ext cx="2743200" cy="822960"/>
          </a:xfrm>
          <a:prstGeom prst="chevron">
            <a:avLst/>
          </a:prstGeom>
          <a:solidFill>
            <a:srgbClr val="F8CB6B"/>
          </a:solidFill>
          <a:ln w="12700">
            <a:solidFill>
              <a:srgbClr val="8A5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03320" y="173736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· State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83280" y="2651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Months 4-9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0" y="2971800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clusters in 3 states, 1,000 beekeepers, QR at Khadi outlets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737360"/>
            <a:ext cx="2743200" cy="822960"/>
          </a:xfrm>
          <a:prstGeom prst="chevron">
            <a:avLst/>
          </a:prstGeom>
          <a:solidFill>
            <a:srgbClr val="F8CB6B"/>
          </a:solidFill>
          <a:ln w="12700">
            <a:solidFill>
              <a:srgbClr val="8A5A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173736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· Regional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17920" y="2651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Months 10-18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2971800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Honey Mission states, FSSAI dashboard, marketplace integration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052560" y="1737360"/>
            <a:ext cx="2743200" cy="822960"/>
          </a:xfrm>
          <a:prstGeom prst="chevron">
            <a:avLst/>
          </a:prstGeom>
          <a:solidFill>
            <a:srgbClr val="F8CB6B"/>
          </a:solidFill>
          <a:ln w="12700">
            <a:solidFill>
              <a:srgbClr val="8A5A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72600" y="173736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3 · National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052560" y="2651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Year 2+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0" y="2971800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API for e-commerce and export certificates, trained disease model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11480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251960"/>
            <a:ext cx="73152" cy="173736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42062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for the village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77240" y="4617720"/>
            <a:ext cx="51206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Offline-first apps · regional-language and voice UI · QR-first flows · LoRa gateway serves 20-40 hives · near-zero chain write cost (permissioned, no gas).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217920" y="411480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17920" y="4251960"/>
            <a:ext cx="73152" cy="1737360"/>
          </a:xfrm>
          <a:prstGeom prst="rect">
            <a:avLst/>
          </a:prstGeom>
          <a:solidFill>
            <a:srgbClr val="D64545"/>
          </a:solidFill>
          <a:ln/>
        </p:spPr>
      </p:sp>
      <p:sp>
        <p:nvSpPr>
          <p:cNvPr id="28" name="Text 26"/>
          <p:cNvSpPr/>
          <p:nvPr/>
        </p:nvSpPr>
        <p:spPr>
          <a:xfrm>
            <a:off x="6446520" y="42062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Risks we plan for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446520" y="4617720"/>
            <a:ext cx="51206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Garbage-in by dishonest actors -&gt; accredited lab keys, random audits, IoT weight cross-check · QR cloning -&gt; per-jar serials and single-use claim codes · governance -&gt; multi-stakeholder validators.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A5A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WINS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for beekeepers, consumers and KVIC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Honey Chain · SIH 2026 · PS SIH26021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74520"/>
            <a:ext cx="73152" cy="1920240"/>
          </a:xfrm>
          <a:prstGeom prst="rect">
            <a:avLst/>
          </a:prstGeom>
          <a:solidFill>
            <a:srgbClr val="1F9D55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82880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Beekeepers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240280"/>
            <a:ext cx="32918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Proof of quality supports a premium price and direct market access. Early disease alerts protect colonies and yield.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89120" y="173736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0" y="1874520"/>
            <a:ext cx="73152" cy="1920240"/>
          </a:xfrm>
          <a:prstGeom prst="rect">
            <a:avLst/>
          </a:prstGeom>
          <a:solidFill>
            <a:srgbClr val="1F9D55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182880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2240280"/>
            <a:ext cx="32918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and know: origin, purity test and journey. Counterfeit batches are flagged before purchase.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0" y="173736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874520"/>
            <a:ext cx="73152" cy="1920240"/>
          </a:xfrm>
          <a:prstGeom prst="rect">
            <a:avLst/>
          </a:prstGeom>
          <a:solidFill>
            <a:srgbClr val="1F9D55"/>
          </a:solidFill>
          <a:ln/>
        </p:spPr>
      </p:sp>
      <p:sp>
        <p:nvSpPr>
          <p:cNvPr id="16" name="Text 14"/>
          <p:cNvSpPr/>
          <p:nvPr/>
        </p:nvSpPr>
        <p:spPr>
          <a:xfrm>
            <a:off x="8458200" y="182880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KVIC &amp; regulators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58200" y="2240280"/>
            <a:ext cx="31089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Cluster-level dashboards: production, adulteration flags and disease hotspots for targeted extension support.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Success metrics for the pilot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663440"/>
            <a:ext cx="3566160" cy="594360"/>
          </a:xfrm>
          <a:prstGeom prst="roundRect">
            <a:avLst>
              <a:gd name="adj" fmla="val 12308"/>
            </a:avLst>
          </a:prstGeom>
          <a:solidFill>
            <a:srgbClr val="FFF4D6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66344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 of batches with QR + lab certificate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297680" y="4663440"/>
            <a:ext cx="3566160" cy="594360"/>
          </a:xfrm>
          <a:prstGeom prst="roundRect">
            <a:avLst>
              <a:gd name="adj" fmla="val 12308"/>
            </a:avLst>
          </a:prstGeom>
          <a:solidFill>
            <a:srgbClr val="FFF4D6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9120" y="466344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 scans per month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046720" y="4663440"/>
            <a:ext cx="3566160" cy="594360"/>
          </a:xfrm>
          <a:prstGeom prst="roundRect">
            <a:avLst>
              <a:gd name="adj" fmla="val 12308"/>
            </a:avLst>
          </a:prstGeom>
          <a:solidFill>
            <a:srgbClr val="FFF4D6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38160" y="466344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 premium vs unlabelled honey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5394960"/>
            <a:ext cx="3566160" cy="594360"/>
          </a:xfrm>
          <a:prstGeom prst="roundRect">
            <a:avLst>
              <a:gd name="adj" fmla="val 12308"/>
            </a:avLst>
          </a:prstGeom>
          <a:solidFill>
            <a:srgbClr val="FFF4D6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539496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Colony loss reduction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97680" y="5394960"/>
            <a:ext cx="3566160" cy="594360"/>
          </a:xfrm>
          <a:prstGeom prst="roundRect">
            <a:avLst>
              <a:gd name="adj" fmla="val 12308"/>
            </a:avLst>
          </a:prstGeom>
          <a:solidFill>
            <a:srgbClr val="FFF4D6"/>
          </a:solidFill>
          <a:ln w="12700">
            <a:solidFill>
              <a:srgbClr val="EFE2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89120" y="539496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F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Adulterated batches flagged / 1,000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A1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drop, proven.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3108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Honey Chain · SIH26021 · Ministry of MSME · KVIC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4023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6E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demo: https://honey-chain-suyashs-projects-0ba1789c.vercel.app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852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7A6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Honey Chain - SIH26021</dc:title>
  <dc:subject>PptxGenJS Presentation</dc:subject>
  <dc:creator>PptxGenJS</dc:creator>
  <cp:lastModifiedBy>PptxGenJS</cp:lastModifiedBy>
  <cp:revision>1</cp:revision>
  <dcterms:created xsi:type="dcterms:W3CDTF">2026-09-30T14:32:07Z</dcterms:created>
  <dcterms:modified xsi:type="dcterms:W3CDTF">2026-09-30T14:32:07Z</dcterms:modified>
</cp:coreProperties>
</file>